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C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3" d="100"/>
          <a:sy n="143" d="100"/>
        </p:scale>
        <p:origin x="6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539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MONTH, SELECTED_SCOPE, SELECTED_GENDER, SELECTED_OWNER are replaced by the analytics engine at export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KPI summary page. All {{PLACEHOLDER}} values are populated by the DuckDB analytics engine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Reach &amp; Engagement. All subjects visible. Bars are placeholder widths — replace with actual percentage-driven widths in final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Sessions &amp; Behaviour slide. Duration bands and AR tier cards are placeholder-driven.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Devices &amp; Connectivity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Content Performance table — top 10 modules. Add more rows if data exceeds 10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Performance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&amp; Accessibility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Notifications &amp; Re-Engagement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&amp; NPS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District drilldown slide. Rows populated by DuckDB from RAW_Districts. Extend rows if more districts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Advertising Performance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Auto-generated footer. No manual edits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602583" y="0"/>
            <a:ext cx="1541417" cy="5143500"/>
          </a:xfrm>
          <a:prstGeom prst="rect">
            <a:avLst/>
          </a:prstGeom>
          <a:solidFill>
            <a:srgbClr val="1E5499"/>
          </a:solidFill>
          <a:ln w="12700">
            <a:solidFill>
              <a:srgbClr val="1E54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373552"/>
            <a:ext cx="3840480" cy="50292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Analytics Report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{{REPORT_MONTH}}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B89A3E"/>
          </a:solidFill>
          <a:ln w="12700">
            <a:solidFill>
              <a:srgbClr val="B89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572000"/>
            <a:ext cx="8412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India  ·  Ministry of Education  ·  MITRA AR Platform  ·  CONFIDENTIAL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6240" y="3968222"/>
            <a:ext cx="4667925" cy="411480"/>
          </a:xfrm>
          <a:prstGeom prst="roundRect">
            <a:avLst>
              <a:gd name="adj" fmla="val 13333"/>
            </a:avLst>
          </a:prstGeom>
          <a:solidFill>
            <a:srgbClr val="163D6E"/>
          </a:solidFill>
          <a:ln w="6350">
            <a:solidFill>
              <a:srgbClr val="E8C9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199" y="3977640"/>
            <a:ext cx="46679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{{SELECTED_SCOPE}}  ·  Gender: {{SELECTED_GENDER}}  ·  Owner: {{SELECTED_OWNER}}</a:t>
            </a:r>
            <a:endParaRPr lang="en-US" sz="1000" b="1" dirty="0"/>
          </a:p>
        </p:txBody>
      </p:sp>
      <p:sp>
        <p:nvSpPr>
          <p:cNvPr id="2" name="Title 28">
            <a:extLst>
              <a:ext uri="{FF2B5EF4-FFF2-40B4-BE49-F238E27FC236}">
                <a16:creationId xmlns:a16="http://schemas.microsoft.com/office/drawing/2014/main" id="{742A869C-6EBF-6E5D-3FD6-BDE2654822DA}"/>
              </a:ext>
            </a:extLst>
          </p:cNvPr>
          <p:cNvSpPr txBox="1">
            <a:spLocks/>
          </p:cNvSpPr>
          <p:nvPr/>
        </p:nvSpPr>
        <p:spPr>
          <a:xfrm>
            <a:off x="457201" y="209605"/>
            <a:ext cx="1371600" cy="467051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spc="500" dirty="0">
                <a:solidFill>
                  <a:srgbClr val="6BD2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hluber" panose="02000506000000020004" pitchFamily="2" charset="0"/>
              </a:rPr>
              <a:t>Project</a:t>
            </a:r>
          </a:p>
        </p:txBody>
      </p:sp>
      <p:sp>
        <p:nvSpPr>
          <p:cNvPr id="13" name="Title 28">
            <a:extLst>
              <a:ext uri="{FF2B5EF4-FFF2-40B4-BE49-F238E27FC236}">
                <a16:creationId xmlns:a16="http://schemas.microsoft.com/office/drawing/2014/main" id="{0C54D68C-6E49-4A15-974A-3983BAD75280}"/>
              </a:ext>
            </a:extLst>
          </p:cNvPr>
          <p:cNvSpPr txBox="1">
            <a:spLocks/>
          </p:cNvSpPr>
          <p:nvPr/>
        </p:nvSpPr>
        <p:spPr>
          <a:xfrm>
            <a:off x="457200" y="1965399"/>
            <a:ext cx="10717480" cy="544903"/>
          </a:xfrm>
          <a:prstGeom prst="rect">
            <a:avLst/>
          </a:prstGeom>
          <a:effectLst>
            <a:glow rad="101600">
              <a:schemeClr val="bg1">
                <a:lumMod val="20000"/>
                <a:lumOff val="80000"/>
                <a:alpha val="40000"/>
              </a:schemeClr>
            </a:glow>
          </a:effectLst>
        </p:spPr>
        <p:txBody>
          <a:bodyPr vert="horz" lIns="0" tIns="0" rIns="0" bIns="0" numCol="1" rtlCol="0" anchorCtr="0">
            <a:noAutofit/>
          </a:bodyPr>
          <a:lstStyle>
            <a:lvl1pPr algn="l" defTabSz="914400" rtl="0" eaLnBrk="1" latinLnBrk="0" hangingPunct="1">
              <a:lnSpc>
                <a:spcPct val="88000"/>
              </a:lnSpc>
              <a:spcBef>
                <a:spcPct val="0"/>
              </a:spcBef>
              <a:buNone/>
              <a:defRPr sz="3200" ker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spc="600" dirty="0">
                <a:solidFill>
                  <a:srgbClr val="6BD2FF"/>
                </a:solidFill>
                <a:effectLst>
                  <a:glow rad="114300">
                    <a:schemeClr val="bg1">
                      <a:lumMod val="20000"/>
                      <a:lumOff val="8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hluber" panose="02000506000000020004" pitchFamily="2" charset="0"/>
              </a:rPr>
              <a:t>MOBILE INTERFACE TEACHING RESOURCE APPLICATION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107A92-C811-163C-6172-211B77B1F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903" r="2418" b="392"/>
          <a:stretch>
            <a:fillRect/>
          </a:stretch>
        </p:blipFill>
        <p:spPr>
          <a:xfrm>
            <a:off x="457200" y="673908"/>
            <a:ext cx="4969335" cy="1123496"/>
          </a:xfrm>
          <a:custGeom>
            <a:avLst/>
            <a:gdLst/>
            <a:ahLst/>
            <a:cxnLst/>
            <a:rect l="l" t="t" r="r" b="b"/>
            <a:pathLst>
              <a:path w="10608449" h="2424812">
                <a:moveTo>
                  <a:pt x="6703047" y="389034"/>
                </a:moveTo>
                <a:cubicBezTo>
                  <a:pt x="6676713" y="389034"/>
                  <a:pt x="6653925" y="399669"/>
                  <a:pt x="6634681" y="420938"/>
                </a:cubicBezTo>
                <a:cubicBezTo>
                  <a:pt x="6615438" y="442207"/>
                  <a:pt x="6605816" y="466009"/>
                  <a:pt x="6605816" y="492342"/>
                </a:cubicBezTo>
                <a:lnTo>
                  <a:pt x="6605816" y="908613"/>
                </a:lnTo>
                <a:cubicBezTo>
                  <a:pt x="6605816" y="936972"/>
                  <a:pt x="6615438" y="961280"/>
                  <a:pt x="6634681" y="981537"/>
                </a:cubicBezTo>
                <a:cubicBezTo>
                  <a:pt x="6653925" y="1001793"/>
                  <a:pt x="6676713" y="1011921"/>
                  <a:pt x="6703047" y="1011921"/>
                </a:cubicBezTo>
                <a:lnTo>
                  <a:pt x="7414050" y="1011921"/>
                </a:lnTo>
                <a:cubicBezTo>
                  <a:pt x="7440384" y="1011921"/>
                  <a:pt x="7464185" y="1001793"/>
                  <a:pt x="7485454" y="981537"/>
                </a:cubicBezTo>
                <a:cubicBezTo>
                  <a:pt x="7506724" y="961280"/>
                  <a:pt x="7517358" y="936972"/>
                  <a:pt x="7517358" y="908613"/>
                </a:cubicBezTo>
                <a:lnTo>
                  <a:pt x="7517358" y="492342"/>
                </a:lnTo>
                <a:cubicBezTo>
                  <a:pt x="7517358" y="466009"/>
                  <a:pt x="7506724" y="442207"/>
                  <a:pt x="7485454" y="420938"/>
                </a:cubicBezTo>
                <a:cubicBezTo>
                  <a:pt x="7464185" y="399669"/>
                  <a:pt x="7440384" y="389034"/>
                  <a:pt x="7414050" y="389034"/>
                </a:cubicBezTo>
                <a:close/>
                <a:moveTo>
                  <a:pt x="9555666" y="385046"/>
                </a:moveTo>
                <a:lnTo>
                  <a:pt x="9101366" y="1191476"/>
                </a:lnTo>
                <a:lnTo>
                  <a:pt x="9101366" y="1643924"/>
                </a:lnTo>
                <a:lnTo>
                  <a:pt x="10012908" y="1643924"/>
                </a:lnTo>
                <a:lnTo>
                  <a:pt x="10012908" y="1192900"/>
                </a:lnTo>
                <a:close/>
                <a:moveTo>
                  <a:pt x="9394886" y="0"/>
                </a:moveTo>
                <a:lnTo>
                  <a:pt x="9718575" y="0"/>
                </a:lnTo>
                <a:lnTo>
                  <a:pt x="9761474" y="6946"/>
                </a:lnTo>
                <a:cubicBezTo>
                  <a:pt x="9789327" y="15555"/>
                  <a:pt x="9818446" y="28468"/>
                  <a:pt x="9848831" y="45686"/>
                </a:cubicBezTo>
                <a:cubicBezTo>
                  <a:pt x="9909600" y="80122"/>
                  <a:pt x="9954165" y="121648"/>
                  <a:pt x="9982524" y="170264"/>
                </a:cubicBezTo>
                <a:lnTo>
                  <a:pt x="10608449" y="1242845"/>
                </a:lnTo>
                <a:lnTo>
                  <a:pt x="10608449" y="2254658"/>
                </a:lnTo>
                <a:cubicBezTo>
                  <a:pt x="10608449" y="2303273"/>
                  <a:pt x="10591319" y="2343786"/>
                  <a:pt x="10557056" y="2376196"/>
                </a:cubicBezTo>
                <a:cubicBezTo>
                  <a:pt x="10522794" y="2408607"/>
                  <a:pt x="10481483" y="2424812"/>
                  <a:pt x="10433119" y="2424812"/>
                </a:cubicBezTo>
                <a:lnTo>
                  <a:pt x="10182208" y="2424812"/>
                </a:lnTo>
                <a:cubicBezTo>
                  <a:pt x="10135840" y="2424812"/>
                  <a:pt x="10096031" y="2408607"/>
                  <a:pt x="10062781" y="2376196"/>
                </a:cubicBezTo>
                <a:cubicBezTo>
                  <a:pt x="10029532" y="2343786"/>
                  <a:pt x="10012908" y="2303273"/>
                  <a:pt x="10012908" y="2254658"/>
                </a:cubicBezTo>
                <a:lnTo>
                  <a:pt x="10012908" y="2029810"/>
                </a:lnTo>
                <a:lnTo>
                  <a:pt x="9101366" y="2029810"/>
                </a:lnTo>
                <a:lnTo>
                  <a:pt x="9101366" y="2254658"/>
                </a:lnTo>
                <a:cubicBezTo>
                  <a:pt x="9101366" y="2303273"/>
                  <a:pt x="9084741" y="2343786"/>
                  <a:pt x="9051492" y="2376196"/>
                </a:cubicBezTo>
                <a:cubicBezTo>
                  <a:pt x="9018243" y="2408607"/>
                  <a:pt x="8978434" y="2424812"/>
                  <a:pt x="8932066" y="2424812"/>
                </a:cubicBezTo>
                <a:lnTo>
                  <a:pt x="8681154" y="2424812"/>
                </a:lnTo>
                <a:cubicBezTo>
                  <a:pt x="8632791" y="2424812"/>
                  <a:pt x="8591479" y="2408607"/>
                  <a:pt x="8557218" y="2376196"/>
                </a:cubicBezTo>
                <a:cubicBezTo>
                  <a:pt x="8522955" y="2343786"/>
                  <a:pt x="8505825" y="2303273"/>
                  <a:pt x="8505825" y="2254658"/>
                </a:cubicBezTo>
                <a:lnTo>
                  <a:pt x="8505825" y="1242845"/>
                </a:lnTo>
                <a:lnTo>
                  <a:pt x="9128759" y="170311"/>
                </a:lnTo>
                <a:cubicBezTo>
                  <a:pt x="9159145" y="121696"/>
                  <a:pt x="9204215" y="80162"/>
                  <a:pt x="9263972" y="45710"/>
                </a:cubicBezTo>
                <a:cubicBezTo>
                  <a:pt x="9293850" y="28484"/>
                  <a:pt x="9322843" y="15565"/>
                  <a:pt x="9350949" y="6952"/>
                </a:cubicBezTo>
                <a:close/>
                <a:moveTo>
                  <a:pt x="6156998" y="0"/>
                </a:moveTo>
                <a:lnTo>
                  <a:pt x="7966176" y="0"/>
                </a:lnTo>
                <a:lnTo>
                  <a:pt x="8004274" y="7705"/>
                </a:lnTo>
                <a:cubicBezTo>
                  <a:pt x="8025036" y="16821"/>
                  <a:pt x="8044027" y="30494"/>
                  <a:pt x="8061245" y="48725"/>
                </a:cubicBezTo>
                <a:cubicBezTo>
                  <a:pt x="8095681" y="85186"/>
                  <a:pt x="8112899" y="128738"/>
                  <a:pt x="8112899" y="179379"/>
                </a:cubicBezTo>
                <a:lnTo>
                  <a:pt x="8112899" y="1227653"/>
                </a:lnTo>
                <a:cubicBezTo>
                  <a:pt x="8112899" y="1278294"/>
                  <a:pt x="8095816" y="1320833"/>
                  <a:pt x="8061648" y="1355269"/>
                </a:cubicBezTo>
                <a:cubicBezTo>
                  <a:pt x="8027481" y="1389705"/>
                  <a:pt x="7986295" y="1406923"/>
                  <a:pt x="7938092" y="1406923"/>
                </a:cubicBezTo>
                <a:lnTo>
                  <a:pt x="7681863" y="1406923"/>
                </a:lnTo>
                <a:lnTo>
                  <a:pt x="8296015" y="2254088"/>
                </a:lnTo>
                <a:cubicBezTo>
                  <a:pt x="8325861" y="2292702"/>
                  <a:pt x="8340785" y="2327249"/>
                  <a:pt x="8340785" y="2357728"/>
                </a:cubicBezTo>
                <a:cubicBezTo>
                  <a:pt x="8340785" y="2402451"/>
                  <a:pt x="8310400" y="2424812"/>
                  <a:pt x="8249630" y="2424812"/>
                </a:cubicBezTo>
                <a:lnTo>
                  <a:pt x="7875898" y="2424812"/>
                </a:lnTo>
                <a:cubicBezTo>
                  <a:pt x="7827282" y="2424812"/>
                  <a:pt x="7773603" y="2408607"/>
                  <a:pt x="7714859" y="2376196"/>
                </a:cubicBezTo>
                <a:cubicBezTo>
                  <a:pt x="7656115" y="2343786"/>
                  <a:pt x="7609525" y="2303273"/>
                  <a:pt x="7575089" y="2254658"/>
                </a:cubicBezTo>
                <a:lnTo>
                  <a:pt x="6949211" y="1406923"/>
                </a:lnTo>
                <a:lnTo>
                  <a:pt x="6605816" y="1406923"/>
                </a:lnTo>
                <a:lnTo>
                  <a:pt x="6605816" y="2254658"/>
                </a:lnTo>
                <a:cubicBezTo>
                  <a:pt x="6605816" y="2303273"/>
                  <a:pt x="6589191" y="2343786"/>
                  <a:pt x="6555942" y="2376196"/>
                </a:cubicBezTo>
                <a:cubicBezTo>
                  <a:pt x="6522693" y="2408607"/>
                  <a:pt x="6482885" y="2424812"/>
                  <a:pt x="6436516" y="2424812"/>
                </a:cubicBezTo>
                <a:lnTo>
                  <a:pt x="6185604" y="2424812"/>
                </a:lnTo>
                <a:cubicBezTo>
                  <a:pt x="6137242" y="2424812"/>
                  <a:pt x="6095930" y="2408607"/>
                  <a:pt x="6061668" y="2376196"/>
                </a:cubicBezTo>
                <a:cubicBezTo>
                  <a:pt x="6027406" y="2343786"/>
                  <a:pt x="6010274" y="2303273"/>
                  <a:pt x="6010274" y="2254658"/>
                </a:cubicBezTo>
                <a:lnTo>
                  <a:pt x="6010274" y="179379"/>
                </a:lnTo>
                <a:cubicBezTo>
                  <a:pt x="6010274" y="128738"/>
                  <a:pt x="6027493" y="85186"/>
                  <a:pt x="6061929" y="48725"/>
                </a:cubicBezTo>
                <a:cubicBezTo>
                  <a:pt x="6079147" y="30494"/>
                  <a:pt x="6098137" y="16821"/>
                  <a:pt x="6118900" y="7705"/>
                </a:cubicBezTo>
                <a:close/>
                <a:moveTo>
                  <a:pt x="3737494" y="0"/>
                </a:moveTo>
                <a:lnTo>
                  <a:pt x="5702943" y="0"/>
                </a:lnTo>
                <a:lnTo>
                  <a:pt x="5742165" y="7634"/>
                </a:lnTo>
                <a:cubicBezTo>
                  <a:pt x="5763434" y="16702"/>
                  <a:pt x="5782678" y="30304"/>
                  <a:pt x="5799896" y="48440"/>
                </a:cubicBezTo>
                <a:cubicBezTo>
                  <a:pt x="5834332" y="84712"/>
                  <a:pt x="5851550" y="128026"/>
                  <a:pt x="5851550" y="178382"/>
                </a:cubicBezTo>
                <a:lnTo>
                  <a:pt x="5851550" y="556150"/>
                </a:lnTo>
                <a:lnTo>
                  <a:pt x="5256009" y="556150"/>
                </a:lnTo>
                <a:lnTo>
                  <a:pt x="5256009" y="490491"/>
                </a:lnTo>
                <a:cubicBezTo>
                  <a:pt x="5256009" y="464632"/>
                  <a:pt x="5245754" y="441258"/>
                  <a:pt x="5225244" y="420368"/>
                </a:cubicBezTo>
                <a:cubicBezTo>
                  <a:pt x="5204735" y="399479"/>
                  <a:pt x="5182168" y="389034"/>
                  <a:pt x="5157543" y="389034"/>
                </a:cubicBezTo>
                <a:lnTo>
                  <a:pt x="5015969" y="389034"/>
                </a:lnTo>
                <a:lnTo>
                  <a:pt x="5015969" y="2254658"/>
                </a:lnTo>
                <a:cubicBezTo>
                  <a:pt x="5015969" y="2303273"/>
                  <a:pt x="4999765" y="2343786"/>
                  <a:pt x="4967354" y="2376196"/>
                </a:cubicBezTo>
                <a:cubicBezTo>
                  <a:pt x="4934944" y="2408607"/>
                  <a:pt x="4894431" y="2424812"/>
                  <a:pt x="4845815" y="2424812"/>
                </a:cubicBezTo>
                <a:lnTo>
                  <a:pt x="4596661" y="2424812"/>
                </a:lnTo>
                <a:cubicBezTo>
                  <a:pt x="4546019" y="2424812"/>
                  <a:pt x="4504999" y="2408607"/>
                  <a:pt x="4473603" y="2376196"/>
                </a:cubicBezTo>
                <a:cubicBezTo>
                  <a:pt x="4442204" y="2343786"/>
                  <a:pt x="4426505" y="2303273"/>
                  <a:pt x="4426505" y="2254658"/>
                </a:cubicBezTo>
                <a:lnTo>
                  <a:pt x="4426505" y="389034"/>
                </a:lnTo>
                <a:lnTo>
                  <a:pt x="4288493" y="389034"/>
                </a:lnTo>
                <a:cubicBezTo>
                  <a:pt x="4262476" y="389034"/>
                  <a:pt x="4238967" y="399479"/>
                  <a:pt x="4217967" y="420368"/>
                </a:cubicBezTo>
                <a:cubicBezTo>
                  <a:pt x="4196966" y="441258"/>
                  <a:pt x="4186467" y="464632"/>
                  <a:pt x="4186467" y="490491"/>
                </a:cubicBezTo>
                <a:lnTo>
                  <a:pt x="4186467" y="556150"/>
                </a:lnTo>
                <a:lnTo>
                  <a:pt x="3590925" y="556150"/>
                </a:lnTo>
                <a:lnTo>
                  <a:pt x="3590925" y="178382"/>
                </a:lnTo>
                <a:cubicBezTo>
                  <a:pt x="3590925" y="128026"/>
                  <a:pt x="3608143" y="84712"/>
                  <a:pt x="3642579" y="48440"/>
                </a:cubicBezTo>
                <a:cubicBezTo>
                  <a:pt x="3659797" y="30304"/>
                  <a:pt x="3678788" y="16702"/>
                  <a:pt x="3699551" y="7634"/>
                </a:cubicBezTo>
                <a:close/>
                <a:moveTo>
                  <a:pt x="2973172" y="0"/>
                </a:moveTo>
                <a:lnTo>
                  <a:pt x="3284158" y="0"/>
                </a:lnTo>
                <a:lnTo>
                  <a:pt x="3317900" y="6946"/>
                </a:lnTo>
                <a:cubicBezTo>
                  <a:pt x="3337551" y="15555"/>
                  <a:pt x="3355942" y="28468"/>
                  <a:pt x="3373073" y="45686"/>
                </a:cubicBezTo>
                <a:cubicBezTo>
                  <a:pt x="3407335" y="80122"/>
                  <a:pt x="3424466" y="121648"/>
                  <a:pt x="3424466" y="170264"/>
                </a:cubicBezTo>
                <a:lnTo>
                  <a:pt x="3424466" y="2254658"/>
                </a:lnTo>
                <a:cubicBezTo>
                  <a:pt x="3424466" y="2303273"/>
                  <a:pt x="3407841" y="2343786"/>
                  <a:pt x="3374592" y="2376196"/>
                </a:cubicBezTo>
                <a:cubicBezTo>
                  <a:pt x="3341343" y="2408607"/>
                  <a:pt x="3301534" y="2424812"/>
                  <a:pt x="3255166" y="2424812"/>
                </a:cubicBezTo>
                <a:lnTo>
                  <a:pt x="3004255" y="2424812"/>
                </a:lnTo>
                <a:cubicBezTo>
                  <a:pt x="2955892" y="2424812"/>
                  <a:pt x="2914580" y="2408607"/>
                  <a:pt x="2880318" y="2376196"/>
                </a:cubicBezTo>
                <a:cubicBezTo>
                  <a:pt x="2846056" y="2343786"/>
                  <a:pt x="2828925" y="2303273"/>
                  <a:pt x="2828925" y="2254658"/>
                </a:cubicBezTo>
                <a:lnTo>
                  <a:pt x="2828925" y="170264"/>
                </a:lnTo>
                <a:cubicBezTo>
                  <a:pt x="2828925" y="121648"/>
                  <a:pt x="2846056" y="80122"/>
                  <a:pt x="2880318" y="45686"/>
                </a:cubicBezTo>
                <a:cubicBezTo>
                  <a:pt x="2897449" y="28468"/>
                  <a:pt x="2916343" y="15555"/>
                  <a:pt x="2936999" y="6946"/>
                </a:cubicBezTo>
                <a:close/>
                <a:moveTo>
                  <a:pt x="145228" y="0"/>
                </a:moveTo>
                <a:lnTo>
                  <a:pt x="460206" y="0"/>
                </a:lnTo>
                <a:lnTo>
                  <a:pt x="504458" y="8500"/>
                </a:lnTo>
                <a:cubicBezTo>
                  <a:pt x="525252" y="18146"/>
                  <a:pt x="541734" y="32614"/>
                  <a:pt x="553904" y="51905"/>
                </a:cubicBezTo>
                <a:lnTo>
                  <a:pt x="1336074" y="1389357"/>
                </a:lnTo>
                <a:lnTo>
                  <a:pt x="2119289" y="54374"/>
                </a:lnTo>
                <a:cubicBezTo>
                  <a:pt x="2131348" y="34260"/>
                  <a:pt x="2148178" y="19175"/>
                  <a:pt x="2169780" y="9118"/>
                </a:cubicBezTo>
                <a:lnTo>
                  <a:pt x="2198775" y="0"/>
                </a:lnTo>
                <a:lnTo>
                  <a:pt x="2527911" y="0"/>
                </a:lnTo>
                <a:lnTo>
                  <a:pt x="2561553" y="6946"/>
                </a:lnTo>
                <a:cubicBezTo>
                  <a:pt x="2581145" y="15555"/>
                  <a:pt x="2599479" y="28468"/>
                  <a:pt x="2616554" y="45686"/>
                </a:cubicBezTo>
                <a:cubicBezTo>
                  <a:pt x="2650705" y="80122"/>
                  <a:pt x="2667781" y="121648"/>
                  <a:pt x="2667781" y="170264"/>
                </a:cubicBezTo>
                <a:lnTo>
                  <a:pt x="2667781" y="2254658"/>
                </a:lnTo>
                <a:cubicBezTo>
                  <a:pt x="2667781" y="2303273"/>
                  <a:pt x="2651157" y="2343786"/>
                  <a:pt x="2617907" y="2376196"/>
                </a:cubicBezTo>
                <a:cubicBezTo>
                  <a:pt x="2584658" y="2408607"/>
                  <a:pt x="2544849" y="2424812"/>
                  <a:pt x="2498481" y="2424812"/>
                </a:cubicBezTo>
                <a:lnTo>
                  <a:pt x="2247569" y="2424812"/>
                </a:lnTo>
                <a:cubicBezTo>
                  <a:pt x="2199207" y="2424812"/>
                  <a:pt x="2157895" y="2408607"/>
                  <a:pt x="2123633" y="2376196"/>
                </a:cubicBezTo>
                <a:cubicBezTo>
                  <a:pt x="2089371" y="2343786"/>
                  <a:pt x="2072240" y="2303273"/>
                  <a:pt x="2072240" y="2254658"/>
                </a:cubicBezTo>
                <a:lnTo>
                  <a:pt x="2072240" y="1327923"/>
                </a:lnTo>
                <a:lnTo>
                  <a:pt x="1470669" y="2358013"/>
                </a:lnTo>
                <a:cubicBezTo>
                  <a:pt x="1446266" y="2402546"/>
                  <a:pt x="1400531" y="2424812"/>
                  <a:pt x="1333463" y="2424812"/>
                </a:cubicBezTo>
                <a:cubicBezTo>
                  <a:pt x="1266363" y="2424812"/>
                  <a:pt x="1220628" y="2402530"/>
                  <a:pt x="1196257" y="2357966"/>
                </a:cubicBezTo>
                <a:lnTo>
                  <a:pt x="595541" y="1327923"/>
                </a:lnTo>
                <a:lnTo>
                  <a:pt x="595541" y="2254658"/>
                </a:lnTo>
                <a:cubicBezTo>
                  <a:pt x="595541" y="2303273"/>
                  <a:pt x="578916" y="2343786"/>
                  <a:pt x="545667" y="2376196"/>
                </a:cubicBezTo>
                <a:cubicBezTo>
                  <a:pt x="512418" y="2408607"/>
                  <a:pt x="472609" y="2424812"/>
                  <a:pt x="426241" y="2424812"/>
                </a:cubicBezTo>
                <a:lnTo>
                  <a:pt x="175329" y="2424812"/>
                </a:lnTo>
                <a:cubicBezTo>
                  <a:pt x="126967" y="2424812"/>
                  <a:pt x="85655" y="2408607"/>
                  <a:pt x="51393" y="2376196"/>
                </a:cubicBezTo>
                <a:cubicBezTo>
                  <a:pt x="17131" y="2343786"/>
                  <a:pt x="0" y="2303273"/>
                  <a:pt x="0" y="2254658"/>
                </a:cubicBezTo>
                <a:lnTo>
                  <a:pt x="0" y="170264"/>
                </a:lnTo>
                <a:cubicBezTo>
                  <a:pt x="0" y="121648"/>
                  <a:pt x="17249" y="80122"/>
                  <a:pt x="51749" y="45686"/>
                </a:cubicBezTo>
                <a:cubicBezTo>
                  <a:pt x="68999" y="28468"/>
                  <a:pt x="88021" y="15555"/>
                  <a:pt x="108815" y="6946"/>
                </a:cubicBezTo>
                <a:close/>
              </a:path>
            </a:pathLst>
          </a:cu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CC6CE5-CC2E-2D4F-F64D-75EF9D725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268" y="4739467"/>
            <a:ext cx="2044972" cy="236566"/>
          </a:xfrm>
          <a:prstGeom prst="rect">
            <a:avLst/>
          </a:prstGeom>
          <a:effectLst>
            <a:outerShdw blurRad="127000" dist="38100" dir="8100000" algn="tr" rotWithShape="0">
              <a:schemeClr val="tx2">
                <a:lumMod val="65000"/>
                <a:alpha val="40000"/>
              </a:scheme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F90541-70DC-3128-D6F9-DDFAF57D2F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368" y="2499143"/>
            <a:ext cx="1989123" cy="19891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 — GOVERNMENT KPI SCORECARD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{{REPORT_MONTH}}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Monthly Report  ·  {{REPORT_MONTH}}  ·  Government of India — Ministry of Education  ·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1005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STUDENTS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2880" y="12070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{{TOTAL_STUDENTS}}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2880" y="1664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Registered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38528" y="9144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38528" y="1005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SESSIONS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38528" y="12070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{{TOTAL_SESSIONS}}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38528" y="1664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94176" y="9144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94176" y="1005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ATTEMPTS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94176" y="12070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{{TOTAL_QUIZ}}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94176" y="1664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Attempts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49824" y="9144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0E3D2A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9824" y="1005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(MIN)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49824" y="12070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{{AVG_SESSION_MIN}}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49824" y="1664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≥10 ✓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05472" y="9144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05472" y="1005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COMPLETION 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05472" y="12070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{{AR_COMPLETION}}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205472" y="1664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≥65%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10312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0E3D2A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82880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QUIZ SCORE 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2880" y="2395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{{AVG_QUIZ_SCORE}}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2880" y="28529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≥60%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938528" y="210312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938528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ACTIVE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38528" y="2395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{{SCHOOLS_ACTIVE}}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938528" y="28529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Rept: {{DISTRICTS}}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94176" y="210312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0E3D2A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94176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94176" y="2395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{{NPS_SCORE}}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694176" y="28529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≥30 ✓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49824" y="210312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49824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/5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49824" y="2395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{{AVG_RATING}}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49824" y="28529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≥4.0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05472" y="210312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205472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RATE 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205472" y="2395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{{CRASH_RATE}}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205472" y="28529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&lt;1%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2880" y="329184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82880" y="3383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DELIVERY 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82880" y="3584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{{PUSH_DELIVERY}}</a:t>
            </a: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82880" y="3950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≥95%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67712" y="329184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267712" y="3383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OPEN RATE 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267712" y="3584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{{PUSH_OPEN}}</a:t>
            </a: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267712" y="3950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≥25%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352544" y="329184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352544" y="3383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SESSIONS 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352544" y="3584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{{OFFLINE_PCT}}</a:t>
            </a: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352544" y="3950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metric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400800" y="329184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33101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446520" y="3538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green = Target met    </a:t>
            </a:r>
            <a:r>
              <a:rPr lang="en-US" sz="100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red = Target missed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46520" y="3840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Navy = No target defined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16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864" cy="182880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&amp; Engagement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registrations, session reach and completion across India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54DDC4-E3BC-03F3-D55D-16B1FC3DC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68" y="4739467"/>
            <a:ext cx="2044972" cy="236566"/>
          </a:xfrm>
          <a:prstGeom prst="rect">
            <a:avLst/>
          </a:prstGeom>
          <a:effectLst>
            <a:outerShdw blurRad="127000" dist="38100" dir="8100000" algn="tr" rotWithShape="0">
              <a:schemeClr val="tx2">
                <a:lumMod val="65000"/>
                <a:alpha val="40000"/>
              </a:scheme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&amp; ENGAGEMENT 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{{REPORT_MONTH}}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Monthly Report  ·  {{REPORT_MONTH}}  ·  Government of India — Ministry of Education  ·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960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STUDENTS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288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{{TOTAL_STUDENTS}}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423160" y="91440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960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SESSIONS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42316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{{TOTAL_SESSIONS}}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960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6344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{{AR_COMPLETION}}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903720" y="91440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960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90372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{{DROPOFF_PCT}}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" y="17207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2880" y="1976804"/>
            <a:ext cx="4206240" cy="274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19768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" y="19768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83080" y="19768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14600" y="19768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54680" y="19768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Att.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94760" y="19768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8600" y="22511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22511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{{MALE_STUDENTS}}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83080" y="22511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{{MALE_SESSIONS}}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14600" y="22511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{{MALE_AVG_MIN}}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54680" y="22511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{{MALE_QUIZ}}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22511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{{MALE_SCORE}}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2520872"/>
            <a:ext cx="42062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2525444"/>
            <a:ext cx="4206240" cy="274320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25254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1560" y="25254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{{FEMALE_STUDENTS}}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83080" y="25254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{{FEMALE_SESSIONS}}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25254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{{FEMALE_AVG_MIN}}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54680" y="25254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{{FEMALE_QUIZ}}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94760" y="25254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{{FEMALE_SCORE}}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2880" y="2795192"/>
            <a:ext cx="42062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27997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51560" y="27997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{{OTHER_STUDENTS}}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783080" y="27997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{{OTHER_SESSIONS}}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27997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{{OTHER_AVG_MIN}}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154680" y="27997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{{OTHER_QUIZ}}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794760" y="27997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{{OTHER_SCORE}}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82880" y="3069512"/>
            <a:ext cx="42062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31380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OWNER SPLIT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82880" y="3394124"/>
            <a:ext cx="4297680" cy="274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33941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1560" y="33941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783080" y="33941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3941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Att.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154680" y="33941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94760" y="33941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Comp%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28600" y="36684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51560" y="36684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{{MTH_STUD}}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783080" y="36684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{{MTH_SESS}}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514600" y="36684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{{MTH_QUIZ}}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154680" y="36684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{{MTH_SCORE}}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794760" y="36684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{{MTH_ARCOMP}}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82880" y="3938192"/>
            <a:ext cx="429768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2880" y="3942764"/>
            <a:ext cx="4297680" cy="274320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28600" y="39427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51560" y="39427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{{FAT_STUD}}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783080" y="39427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{{FAT_SESS}}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514600" y="39427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{{FAT_QUIZ}}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154680" y="39427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{{FAT_SCORE}}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794760" y="39427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{{FAT_ARCOMP}}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82880" y="4212512"/>
            <a:ext cx="429768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8600" y="42170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051560" y="42170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{{SEL_STUD}}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783080" y="42170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{{SEL_SESS}}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514600" y="42170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{{SEL_QUIZ}}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54680" y="42170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{{SEL_SCORE}}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794760" y="42170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{{SEL_ARCOMP}}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82880" y="4486832"/>
            <a:ext cx="429768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2880" y="4491404"/>
            <a:ext cx="4297680" cy="274320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8600" y="44914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51560" y="44914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{{OTH_STUD}}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783080" y="44914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{{OTH_SESS}}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514600" y="44914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{{OTH_QUIZ}}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3154680" y="44914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{{OTH_SCORE}}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3794760" y="44914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{{OTH_ARCOMP}}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82880" y="4761152"/>
            <a:ext cx="429768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17720" y="914400"/>
            <a:ext cx="4297680" cy="3749040"/>
          </a:xfrm>
          <a:prstGeom prst="roundRect">
            <a:avLst>
              <a:gd name="adj" fmla="val 2439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4709160" y="987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LEARNING OUTCOMES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70916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172200" y="1371600"/>
            <a:ext cx="1828800" cy="164592"/>
          </a:xfrm>
          <a:prstGeom prst="roundRect">
            <a:avLst>
              <a:gd name="adj" fmla="val 16667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72200" y="1371600"/>
            <a:ext cx="1371600" cy="164592"/>
          </a:xfrm>
          <a:prstGeom prst="roundRect">
            <a:avLst>
              <a:gd name="adj" fmla="val 16667"/>
            </a:avLst>
          </a:prstGeom>
          <a:solidFill>
            <a:srgbClr val="B89A3E"/>
          </a:solidFill>
          <a:ln w="12700">
            <a:solidFill>
              <a:srgbClr val="B89A3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046720" y="1325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{{SCI_SCORE}}%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709160" y="1581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{{SCI_ATTEMPTS}} attempts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470916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172200" y="1874520"/>
            <a:ext cx="1828800" cy="164592"/>
          </a:xfrm>
          <a:prstGeom prst="roundRect">
            <a:avLst>
              <a:gd name="adj" fmla="val 16667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72200" y="1874520"/>
            <a:ext cx="1371600" cy="164592"/>
          </a:xfrm>
          <a:prstGeom prst="roundRect">
            <a:avLst>
              <a:gd name="adj" fmla="val 16667"/>
            </a:avLst>
          </a:prstGeom>
          <a:solidFill>
            <a:srgbClr val="B89A3E"/>
          </a:solidFill>
          <a:ln w="12700">
            <a:solidFill>
              <a:srgbClr val="B89A3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046720" y="1828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{{MATH_SCORE}}%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709160" y="2084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{{MATH_ATTEMPTS}} attempts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7091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172200" y="2377440"/>
            <a:ext cx="1828800" cy="164592"/>
          </a:xfrm>
          <a:prstGeom prst="roundRect">
            <a:avLst>
              <a:gd name="adj" fmla="val 16667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72200" y="2377440"/>
            <a:ext cx="1371600" cy="164592"/>
          </a:xfrm>
          <a:prstGeom prst="roundRect">
            <a:avLst>
              <a:gd name="adj" fmla="val 16667"/>
            </a:avLst>
          </a:prstGeom>
          <a:solidFill>
            <a:srgbClr val="B89A3E"/>
          </a:solidFill>
          <a:ln w="12700">
            <a:solidFill>
              <a:srgbClr val="B89A3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46720" y="2331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{{BIO_SCORE}}%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4709160" y="2587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{{BIO_ATTEMPTS}} attempts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470916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172200" y="2880360"/>
            <a:ext cx="1828800" cy="164592"/>
          </a:xfrm>
          <a:prstGeom prst="roundRect">
            <a:avLst>
              <a:gd name="adj" fmla="val 16667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72200" y="2880360"/>
            <a:ext cx="1371600" cy="164592"/>
          </a:xfrm>
          <a:prstGeom prst="roundRect">
            <a:avLst>
              <a:gd name="adj" fmla="val 16667"/>
            </a:avLst>
          </a:prstGeom>
          <a:solidFill>
            <a:srgbClr val="B89A3E"/>
          </a:solidFill>
          <a:ln w="12700">
            <a:solidFill>
              <a:srgbClr val="B89A3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046720" y="2834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{{PHY_SCORE}}%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4709160" y="30906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{{PHY_ATTEMPTS}} attempts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470916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6172200" y="3383280"/>
            <a:ext cx="1828800" cy="164592"/>
          </a:xfrm>
          <a:prstGeom prst="roundRect">
            <a:avLst>
              <a:gd name="adj" fmla="val 16667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172200" y="3383280"/>
            <a:ext cx="1371600" cy="164592"/>
          </a:xfrm>
          <a:prstGeom prst="roundRect">
            <a:avLst>
              <a:gd name="adj" fmla="val 16667"/>
            </a:avLst>
          </a:prstGeom>
          <a:solidFill>
            <a:srgbClr val="B89A3E"/>
          </a:solidFill>
          <a:ln w="12700">
            <a:solidFill>
              <a:srgbClr val="B89A3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046720" y="3337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{{CHE_SCORE}}%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4709160" y="3593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{{CHE_ATTEMPTS}} attempts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470916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172200" y="3886200"/>
            <a:ext cx="1828800" cy="164592"/>
          </a:xfrm>
          <a:prstGeom prst="roundRect">
            <a:avLst>
              <a:gd name="adj" fmla="val 16667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172200" y="3886200"/>
            <a:ext cx="1371600" cy="164592"/>
          </a:xfrm>
          <a:prstGeom prst="roundRect">
            <a:avLst>
              <a:gd name="adj" fmla="val 16667"/>
            </a:avLst>
          </a:prstGeom>
          <a:solidFill>
            <a:srgbClr val="B89A3E"/>
          </a:solidFill>
          <a:ln w="12700">
            <a:solidFill>
              <a:srgbClr val="B89A3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046720" y="3840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{{GEO_SCORE}}%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4709160" y="40965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{{GEO_ATTEMPTS}} attempts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16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864" cy="182880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 &amp; Behaviour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bands, AR tier performance and offline usage patterns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E42681-6993-37EC-C044-A9B6DE836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68" y="4739467"/>
            <a:ext cx="2044972" cy="236566"/>
          </a:xfrm>
          <a:prstGeom prst="rect">
            <a:avLst/>
          </a:prstGeom>
          <a:effectLst>
            <a:outerShdw blurRad="127000" dist="38100" dir="8100000" algn="tr" rotWithShape="0">
              <a:schemeClr val="tx2">
                <a:lumMod val="65000"/>
                <a:alpha val="40000"/>
              </a:scheme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 &amp; BEHAVIOUR 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{{REPORT_MONTH}}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Monthly Report  ·  {{REPORT_MONTH}}  ·  Government of India — Ministry of Education  ·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969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82880" y="11338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{{TOTAL_SESSIONS}}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956816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56816" y="969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 (M)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56816" y="11338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{{AVG_SESSION_MIN}}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30752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0752" y="969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RATE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30752" y="11338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{{BOUNCE_RATE}}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504688" y="909176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04688" y="9640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%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504688" y="11286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{{DROPOFF_PCT}}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278624" y="909176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78624" y="9640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%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78624" y="11286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{{OFFLINE_PCT}}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82880" y="1801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 BANDS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(&lt;1 min)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83080" y="2167128"/>
            <a:ext cx="2286000" cy="164592"/>
          </a:xfrm>
          <a:prstGeom prst="roundRect">
            <a:avLst>
              <a:gd name="adj" fmla="val 16667"/>
            </a:avLst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2103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{{BOUNCE_PCT}}%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" y="23591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{{BOUNCE_COUNT}} sessions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2880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83080" y="2606040"/>
            <a:ext cx="2286000" cy="164592"/>
          </a:xfrm>
          <a:prstGeom prst="roundRect">
            <a:avLst>
              <a:gd name="adj" fmla="val 16667"/>
            </a:avLst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2606040"/>
            <a:ext cx="304038" cy="164592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2542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{{D_1_5_PCT}}%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80" y="27980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{{D_1_5_COUNT}} sessions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" y="2980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783080" y="3044952"/>
            <a:ext cx="2286000" cy="164592"/>
          </a:xfrm>
          <a:prstGeom prst="roundRect">
            <a:avLst>
              <a:gd name="adj" fmla="val 16667"/>
            </a:avLst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83080" y="3044952"/>
            <a:ext cx="610362" cy="164592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29809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{{D_5_15_PCT}}%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82880" y="32369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{{D_5_15_COUNT}} sessions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82880" y="3419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83080" y="3483864"/>
            <a:ext cx="2286000" cy="164592"/>
          </a:xfrm>
          <a:prstGeom prst="roundRect">
            <a:avLst>
              <a:gd name="adj" fmla="val 16667"/>
            </a:avLst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3483864"/>
            <a:ext cx="1218438" cy="164592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34198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{{D_15_30_PCT}}%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2880" y="367588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{{D_15_30_COUNT}} sessions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288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 min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783080" y="3922776"/>
            <a:ext cx="2286000" cy="164592"/>
          </a:xfrm>
          <a:prstGeom prst="roundRect">
            <a:avLst>
              <a:gd name="adj" fmla="val 16667"/>
            </a:avLst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83080" y="3922776"/>
            <a:ext cx="153162" cy="164592"/>
          </a:xfrm>
          <a:prstGeom prst="roundRect">
            <a:avLst>
              <a:gd name="adj" fmla="val 1791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0" y="3858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{{D_30_PCT}}%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82880" y="4114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{{D_30_COUNT}} sessions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46322" y="1798756"/>
            <a:ext cx="4297680" cy="2949593"/>
          </a:xfrm>
          <a:prstGeom prst="roundRect">
            <a:avLst>
              <a:gd name="adj" fmla="val 2439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937762" y="18719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TIER PERFORMANCE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937762" y="2255956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163D6E"/>
          </a:solidFill>
          <a:ln w="6350">
            <a:solidFill>
              <a:srgbClr val="8BA4C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37762" y="2255956"/>
            <a:ext cx="82296" cy="530352"/>
          </a:xfrm>
          <a:prstGeom prst="roundRect">
            <a:avLst>
              <a:gd name="adj" fmla="val 33333"/>
            </a:avLst>
          </a:prstGeom>
          <a:solidFill>
            <a:srgbClr val="8BA4C0"/>
          </a:solidFill>
          <a:ln w="12700">
            <a:solidFill>
              <a:srgbClr val="8BA4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2" y="22925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3D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20642" y="2511988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{{BASIC3D_SESSIONS}} sessions  ·  Avg {{BASIC3D_AVG_MIN}} min  ·  Completion {{BASIC3D_COMP}}%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275322" y="236568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BA4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{{BASIC3D_PCT}}%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937762" y="2877748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163D6E"/>
          </a:solidFill>
          <a:ln w="6350">
            <a:solidFill>
              <a:srgbClr val="B89A3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762" y="2877748"/>
            <a:ext cx="82296" cy="530352"/>
          </a:xfrm>
          <a:prstGeom prst="roundRect">
            <a:avLst>
              <a:gd name="adj" fmla="val 33333"/>
            </a:avLst>
          </a:prstGeom>
          <a:solidFill>
            <a:srgbClr val="B89A3E"/>
          </a:solidFill>
          <a:ln w="12700">
            <a:solidFill>
              <a:srgbClr val="B89A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2" y="29143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120642" y="313378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{{INT3D_SESSIONS}} sessions  ·  Avg {{INT3D_AVG_MIN}} min  ·  Completion {{INT3D_COMP}}%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275322" y="2987476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{{INT3D_PCT}}%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937762" y="3499540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163D6E"/>
          </a:solidFill>
          <a:ln w="6350">
            <a:solidFill>
              <a:srgbClr val="E8C97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37762" y="3499540"/>
            <a:ext cx="82296" cy="530352"/>
          </a:xfrm>
          <a:prstGeom prst="roundRect">
            <a:avLst>
              <a:gd name="adj" fmla="val 33333"/>
            </a:avLst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20642" y="35361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Marker-based AR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120642" y="375557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{{MARKER_SESSIONS}} sessions  ·  Avg {{MARKER_AVG_MIN}} min  ·  Completion {{MARKER_COMP}}%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275322" y="36092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{{MARKER_PCT}}%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937762" y="4121332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163D6E"/>
          </a:solidFill>
          <a:ln w="6350">
            <a:solidFill>
              <a:srgbClr val="4EC99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37762" y="4121332"/>
            <a:ext cx="82296" cy="530352"/>
          </a:xfrm>
          <a:prstGeom prst="roundRect">
            <a:avLst>
              <a:gd name="adj" fmla="val 33333"/>
            </a:avLst>
          </a:prstGeom>
          <a:solidFill>
            <a:srgbClr val="4EC99A"/>
          </a:solidFill>
          <a:ln w="12700">
            <a:solidFill>
              <a:srgbClr val="4EC99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2" y="41579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Markerless AR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120642" y="437736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{{MARKLESS_SESSIONS}} sessions  ·  Avg {{MARKLESS_AVG_MIN}} min  ·  Completion {{MARKLESS_COMP}}%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275322" y="42310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EC9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{{MARKLESS_PCT}}%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16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864" cy="182880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Devices &amp; Connectivity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capability, network distribution and performance telemetry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B720DF-F37F-E440-59E9-329FC9890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68" y="4739467"/>
            <a:ext cx="2044972" cy="236566"/>
          </a:xfrm>
          <a:prstGeom prst="rect">
            <a:avLst/>
          </a:prstGeom>
          <a:effectLst>
            <a:outerShdw blurRad="127000" dist="38100" dir="8100000" algn="tr" rotWithShape="0">
              <a:schemeClr val="tx2">
                <a:lumMod val="65000"/>
                <a:alpha val="40000"/>
              </a:scheme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DEVICES &amp; CONNECTIVITY 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{{REPORT_MONTH}}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Monthly Report  ·  {{REPORT_MONTH}}  ·  Government of India — Ministry of Education  ·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969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82880" y="11338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{{TOTAL_DEVICES}}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56816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56816" y="969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AR-CAPABLE %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56816" y="11338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{{AR_CAPABLE_PCT}}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30752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0752" y="969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COLD START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30752" y="11338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{{COLD_START}}s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504688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04688" y="969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RATE %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504688" y="11338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{{CRASH_RATE}}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278624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78624" y="969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 RATE %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78624" y="11338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{{ANR_RATE}}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39456" y="4001492"/>
            <a:ext cx="20650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NETWORK TYPE DISTRIBUTION</a:t>
            </a:r>
            <a:endParaRPr lang="en-US" sz="10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 22"/>
          <p:cNvSpPr/>
          <p:nvPr/>
        </p:nvSpPr>
        <p:spPr>
          <a:xfrm>
            <a:off x="371418" y="4352545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9738" y="4352545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{{NET_WIFI_PCT}}%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16170" y="4361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24490" y="43616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{{NET_4G_PCT}}%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60922" y="4352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69242" y="43525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{{NET_5G_PCT}}%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5674" y="4343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13994" y="4343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{{NET_3G_PCT}}%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50426" y="4361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58746" y="43616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{{NET_2G_PCT}}%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95178" y="4346435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03498" y="4346435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{{NET_OFFLINE_PCT}}%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1901224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09160" y="19743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TIER BREAKDOWN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0" y="23309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89320" y="2385856"/>
            <a:ext cx="1828800" cy="146304"/>
          </a:xfrm>
          <a:prstGeom prst="roundRect">
            <a:avLst>
              <a:gd name="adj" fmla="val 18750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89320" y="2385856"/>
            <a:ext cx="854050" cy="146304"/>
          </a:xfrm>
          <a:prstGeom prst="roundRect">
            <a:avLst>
              <a:gd name="adj" fmla="val 18750"/>
            </a:avLst>
          </a:prstGeom>
          <a:solidFill>
            <a:srgbClr val="4EC99A"/>
          </a:solidFill>
          <a:ln w="12700">
            <a:solidFill>
              <a:srgbClr val="4EC9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0" y="2330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{{DEV_HIGH_PCT}}%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25595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{{DEV_HIGH_AVG_MIN}} min  ·  Comp {{DEV_HIGH_COMP}}%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754880" y="2742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989320" y="2797336"/>
            <a:ext cx="1828800" cy="146304"/>
          </a:xfrm>
          <a:prstGeom prst="roundRect">
            <a:avLst>
              <a:gd name="adj" fmla="val 18750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89320" y="2797336"/>
            <a:ext cx="731520" cy="146304"/>
          </a:xfrm>
          <a:prstGeom prst="roundRect">
            <a:avLst>
              <a:gd name="adj" fmla="val 18750"/>
            </a:avLst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0" y="2742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{{DEV_MID_PCT}}%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54880" y="29710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{{DEV_MID_AVG_MIN}} min  ·  Comp {{DEV_MID_COMP}}%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754880" y="315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989320" y="3208816"/>
            <a:ext cx="1828800" cy="146304"/>
          </a:xfrm>
          <a:prstGeom prst="roundRect">
            <a:avLst>
              <a:gd name="adj" fmla="val 18750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9320" y="3208816"/>
            <a:ext cx="243230" cy="146304"/>
          </a:xfrm>
          <a:prstGeom prst="roundRect">
            <a:avLst>
              <a:gd name="adj" fmla="val 18750"/>
            </a:avLst>
          </a:prstGeom>
          <a:solidFill>
            <a:srgbClr val="C94F28"/>
          </a:solidFill>
          <a:ln w="12700">
            <a:solidFill>
              <a:srgbClr val="C94F2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63840" y="31539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4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{{DEV_LOW_PCT}}%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54880" y="33825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{{DEV_LOW_AVG_MIN}} min  ·  Comp {{DEV_LOW_COMP}}%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82880" y="1901952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274320" y="1965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STABILITY METRICS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20040" y="2331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Rate %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28600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{{CRASH_RATE}}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200400" y="23317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&lt;1%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20040" y="2592324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2715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 Rate %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286000" y="2715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{{ANR_RATE}}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200400" y="2715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&lt;0.5%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0040" y="2976372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3099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Cold Start (s)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286000" y="3099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{{COLD_START}}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200400" y="30998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&lt;3s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20040" y="3360420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34838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 %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286000" y="3483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{{BATT_DRAIN}}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200400" y="34838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&lt;5%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0040" y="3744468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5488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Rage Taps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720840" y="4846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{{RAGE_TAPS}}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7635240" y="48463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—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754880" y="5106924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16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864" cy="182880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&amp; AR Content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launch rates, dwell time, completion and learning lift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D80FC8-B92B-84CF-7A84-177A7580D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68" y="4739467"/>
            <a:ext cx="2044972" cy="236566"/>
          </a:xfrm>
          <a:prstGeom prst="rect">
            <a:avLst/>
          </a:prstGeom>
          <a:effectLst>
            <a:outerShdw blurRad="127000" dist="38100" dir="8100000" algn="tr" rotWithShape="0">
              <a:schemeClr val="tx2">
                <a:lumMod val="65000"/>
                <a:alpha val="40000"/>
              </a:scheme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CONTENT PERFORMANCE — TOP MODULES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{{REPORT_MONTH}}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Monthly Report  ·  {{REPORT_MONTH}}  ·  Government of India — Ministry of Education  ·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2880" y="9144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MODULE PERFORMANCE TABLE  (sorted by total launches)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1234440"/>
            <a:ext cx="8778240" cy="274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0" y="1234440"/>
            <a:ext cx="2443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55472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Tier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52752" y="12344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38552" y="12344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Stu.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24352" y="1234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18712" y="1234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(m)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113072" y="1234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Pre→Post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799" y="1508760"/>
            <a:ext cx="2443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Table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55472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52752" y="1508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{{M01_LAUNCHES}}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38552" y="1508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{{M01_UNIQUE}}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24352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{{M01_COMP}}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18712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{{M01_DWELL}}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3072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{{M01_LIFT}}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1778508"/>
            <a:ext cx="80924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1810512"/>
            <a:ext cx="8778240" cy="301752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1810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1810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799" y="1810512"/>
            <a:ext cx="2443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Structure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55472" y="1810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Markerless 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52752" y="18105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{{M02_LAUNCHES}}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38552" y="18105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{{M02_UNIQUE}}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24352" y="1810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{{M02_COMP}}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18712" y="1810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{{M02_DWELL}}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13072" y="1810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{{M02_LIFT}}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2080260"/>
            <a:ext cx="80924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21122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" y="2112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28799" y="2112264"/>
            <a:ext cx="2443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Geometry — Cubes &amp; Cuboids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55472" y="2112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Marker-based 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52752" y="21122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{{M03_LAUNCHES}}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38552" y="21122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{{M03_UNIQUE}}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24352" y="21122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{{M03_COMP}}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18712" y="21122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{{M03_DWELL}}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13072" y="21122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{{M03_LIFT}}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82880" y="2382012"/>
            <a:ext cx="80924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2880" y="2414016"/>
            <a:ext cx="8778240" cy="301752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24140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2960" y="2414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828799" y="2414016"/>
            <a:ext cx="2443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Refraction of Light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455472" y="24140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552752" y="24140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{{M04_LAUNCHES}}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38552" y="24140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{{M04_UNIQUE}}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924352" y="24140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{{M04_COMP}}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518712" y="24140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{{M04_DWELL}}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113072" y="24140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{{M04_LIFT}}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2880" y="2683764"/>
            <a:ext cx="80924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" y="2715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22960" y="2715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828799" y="2715768"/>
            <a:ext cx="2443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Laws of Motion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455472" y="2715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VR-ready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552752" y="27157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{{M05_LAUNCHES}}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38552" y="27157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{{M05_UNIQUE}}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924352" y="2715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{{M05_COMP}}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518712" y="2715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{{M05_DWELL}}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113072" y="2715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{{M05_LIFT}}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82880" y="2985516"/>
            <a:ext cx="80924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2880" y="3017520"/>
            <a:ext cx="8778240" cy="301752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8600" y="3017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12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2296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828799" y="3017520"/>
            <a:ext cx="2443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Structure &amp; Replication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455472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552752" y="3017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{{M06_LAUNCHES}}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238552" y="3017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{{M06_UNIQUE}}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924352" y="3017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{{M06_COMP}}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518712" y="3017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{{M06_DWELL}}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113072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{{M06_LIFT}}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82880" y="3287268"/>
            <a:ext cx="80924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8600" y="33192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6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22960" y="3319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828799" y="3319272"/>
            <a:ext cx="2443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System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455472" y="3319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552752" y="33192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{{M07_LAUNCHES}}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238552" y="33192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{{M07_UNIQUE}}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924352" y="33192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{{M07_COMP}}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518712" y="33192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{{M07_DWELL}}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113072" y="33192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{{M07_LIFT}}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82880" y="3589020"/>
            <a:ext cx="80924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82880" y="3621024"/>
            <a:ext cx="8778240" cy="301752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28600" y="36210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22960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1828799" y="3621024"/>
            <a:ext cx="2443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Landforms &amp; Evolution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455472" y="3621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3D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5552752" y="36210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{{M08_LAUNCHES}}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238552" y="36210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{{M08_UNIQUE}}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6924352" y="36210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{{M08_COMP}}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7518712" y="36210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{{M08_DWELL}}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8113072" y="36210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{{M08_LIFT}}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82880" y="3890772"/>
            <a:ext cx="80924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28600" y="39227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6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822960" y="3922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828799" y="3922776"/>
            <a:ext cx="2443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Digestive System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455472" y="39227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3D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5552752" y="39227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{{M09_LAUNCHES}}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6238552" y="39227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{{M09_UNIQUE}}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924352" y="39227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{{M09_COMP}}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7518712" y="39227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{{M09_DWELL}}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8113072" y="3922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{{M09_LIFT}}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182880" y="4192524"/>
            <a:ext cx="80924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82880" y="4224528"/>
            <a:ext cx="8778240" cy="301752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28600" y="4224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82296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1828799" y="4224528"/>
            <a:ext cx="2443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Electromagnetic Induction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4455472" y="4224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Markerless AR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5552752" y="4224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{{M10_LAUNCHES}}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6238552" y="4224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{{M10_UNIQUE}}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6924352" y="4224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{{M10_COMP}}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518712" y="4224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{{M10_DWELL}}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8113072" y="4224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{{M10_LIFT}}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182880" y="4494276"/>
            <a:ext cx="80924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82880" y="457200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Pre→Post: Avg pre-score % → Avg post-score %. Shows AR learning lift per module.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16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864" cy="182880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Bloom's-level outcomes, subject accuracy and completion funnel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8F680E-5BF8-3967-7B78-E260526E1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68" y="4739467"/>
            <a:ext cx="2044972" cy="236566"/>
          </a:xfrm>
          <a:prstGeom prst="rect">
            <a:avLst/>
          </a:prstGeom>
          <a:effectLst>
            <a:outerShdw blurRad="127000" dist="38100" dir="8100000" algn="tr" rotWithShape="0">
              <a:schemeClr val="tx2">
                <a:lumMod val="65000"/>
                <a:alpha val="40000"/>
              </a:scheme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PERFORMANCE 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{{REPORT_MONTH}}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Monthly Report  ·  {{REPORT_MONTH}}  ·  Government of India — Ministry of Education  ·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3348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879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ATTEMPTS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2880" y="10346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{{TOTAL_QUIZ}}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23160" y="83348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879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%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423160" y="10346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{{AVG_QUIZ_SCORE}}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63440" y="83348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879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63440" y="10346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{{QUIZ_COMP_PCT}}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903720" y="83348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879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903720" y="10346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{{QUIZ_ABANDONED}}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2880" y="1783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QUIZ SUMMARY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2057400"/>
            <a:ext cx="4343400" cy="274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00200" y="2057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7744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0" y="20574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86200" y="20574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Avg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860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00200" y="2331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{{QSCI_ATT}}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77440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{{QSCI_SCORE}}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23317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{{QSCI_COMP}}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86200" y="23317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{{QSCI_CORRECT}}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2601468"/>
            <a:ext cx="43434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2606040"/>
            <a:ext cx="4343400" cy="274320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00200" y="2606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{{QMATH_ATT}}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7744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{{QMATH_SCORE}}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2606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{{QMATH_COMP}}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86200" y="2606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{{QMATH_CORRECT}}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2875788"/>
            <a:ext cx="43434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00200" y="2880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{{QBIO_ATT}}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37744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{{QBIO_SCORE}}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00400" y="2880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{{QBIO_COMP}}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86200" y="2880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{{QBIO_CORRECT}}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2880" y="3150108"/>
            <a:ext cx="43434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3154680"/>
            <a:ext cx="4343400" cy="274320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600200" y="3154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{{QPHY_ATT}}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0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{{QPHY_SCORE}}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0" y="3154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{{QPHY_COMP}}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886200" y="3154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{{QPHY_CORRECT}}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2880" y="3424428"/>
            <a:ext cx="43434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600200" y="3429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{{QCHE_ATT}}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377440" y="3429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{{QCHE_SCORE}}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200400" y="3429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{{QCHE_COMP}}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86200" y="3429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{{QCHE_CORRECT}}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82880" y="3698748"/>
            <a:ext cx="43434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2880" y="3703320"/>
            <a:ext cx="4343400" cy="274320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600200" y="3703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{{QGEO_ATT}}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377440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{{QGEO_SCORE}}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200400" y="3703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{{QGEO_COMP}}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886200" y="3703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{{QGEO_CORRECT}}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2880" y="3973068"/>
            <a:ext cx="43434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2860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Studies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600200" y="3977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{{QSS_ATT}}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377440" y="3977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{{QSS_SCORE}}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200400" y="3977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{{QSS_COMP}}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886200" y="3977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{{QSS_CORRECT}}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82880" y="4247388"/>
            <a:ext cx="43434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82880" y="4251960"/>
            <a:ext cx="4343400" cy="274320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860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600200" y="4251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{{QHIST_ATT}}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37744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{{QHIST_SCORE}}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200400" y="4251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{{QHIST_COMP}}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886200" y="4251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{{QHIST_CORRECT}}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82880" y="4521708"/>
            <a:ext cx="43434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54880" y="1680311"/>
            <a:ext cx="4160520" cy="3061621"/>
          </a:xfrm>
          <a:prstGeom prst="roundRect">
            <a:avLst>
              <a:gd name="adj" fmla="val 2439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846320" y="1753463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QUIZZES BY ATTEMPTS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846320" y="2018235"/>
            <a:ext cx="3977640" cy="304341"/>
          </a:xfrm>
          <a:prstGeom prst="roundRect">
            <a:avLst>
              <a:gd name="adj" fmla="val 12766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56048" y="2035355"/>
            <a:ext cx="2926080" cy="142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Periodic Table Quiz</a:t>
            </a:r>
            <a:endParaRPr lang="en-US" sz="950" dirty="0">
              <a:solidFill>
                <a:srgbClr val="FFFF00"/>
              </a:solidFill>
            </a:endParaRPr>
          </a:p>
        </p:txBody>
      </p:sp>
      <p:sp>
        <p:nvSpPr>
          <p:cNvPr id="83" name="Text 81"/>
          <p:cNvSpPr/>
          <p:nvPr/>
        </p:nvSpPr>
        <p:spPr>
          <a:xfrm>
            <a:off x="4956048" y="2224267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 · Chemistry</a:t>
            </a:r>
            <a:endParaRPr lang="en-US" sz="750" dirty="0">
              <a:solidFill>
                <a:srgbClr val="FFC000"/>
              </a:solidFill>
            </a:endParaRPr>
          </a:p>
        </p:txBody>
      </p:sp>
      <p:sp>
        <p:nvSpPr>
          <p:cNvPr id="84" name="Text 82"/>
          <p:cNvSpPr/>
          <p:nvPr/>
        </p:nvSpPr>
        <p:spPr>
          <a:xfrm>
            <a:off x="6855653" y="2139705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{{QZ01_ATT}} att.  ·  {{QZ01_SCORE}}%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846320" y="2453869"/>
            <a:ext cx="3977640" cy="304341"/>
          </a:xfrm>
          <a:prstGeom prst="roundRect">
            <a:avLst>
              <a:gd name="adj" fmla="val 12766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56048" y="2470989"/>
            <a:ext cx="2926080" cy="142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Cell Bio Quiz</a:t>
            </a:r>
            <a:endParaRPr lang="en-US" sz="950" dirty="0">
              <a:solidFill>
                <a:srgbClr val="FFFF00"/>
              </a:solidFill>
            </a:endParaRPr>
          </a:p>
        </p:txBody>
      </p:sp>
      <p:sp>
        <p:nvSpPr>
          <p:cNvPr id="87" name="Text 85"/>
          <p:cNvSpPr/>
          <p:nvPr/>
        </p:nvSpPr>
        <p:spPr>
          <a:xfrm>
            <a:off x="4956048" y="2659901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9 · Biology</a:t>
            </a:r>
            <a:endParaRPr lang="en-US" sz="750" dirty="0">
              <a:solidFill>
                <a:srgbClr val="FFC000"/>
              </a:solidFill>
            </a:endParaRPr>
          </a:p>
        </p:txBody>
      </p:sp>
      <p:sp>
        <p:nvSpPr>
          <p:cNvPr id="88" name="Text 86"/>
          <p:cNvSpPr/>
          <p:nvPr/>
        </p:nvSpPr>
        <p:spPr>
          <a:xfrm>
            <a:off x="6855653" y="2575339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{{QZ02_ATT}} att.  ·  {{QZ02_SCORE}}%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846320" y="2880360"/>
            <a:ext cx="3977640" cy="304341"/>
          </a:xfrm>
          <a:prstGeom prst="roundRect">
            <a:avLst>
              <a:gd name="adj" fmla="val 12766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56048" y="2897480"/>
            <a:ext cx="2926080" cy="142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Geometry Quiz</a:t>
            </a:r>
            <a:endParaRPr lang="en-US" sz="950" dirty="0">
              <a:solidFill>
                <a:srgbClr val="FFFF00"/>
              </a:solidFill>
            </a:endParaRPr>
          </a:p>
        </p:txBody>
      </p:sp>
      <p:sp>
        <p:nvSpPr>
          <p:cNvPr id="91" name="Text 89"/>
          <p:cNvSpPr/>
          <p:nvPr/>
        </p:nvSpPr>
        <p:spPr>
          <a:xfrm>
            <a:off x="4956048" y="3086392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7 · Maths</a:t>
            </a:r>
            <a:endParaRPr lang="en-US" sz="750" dirty="0">
              <a:solidFill>
                <a:srgbClr val="FFC000"/>
              </a:solidFill>
            </a:endParaRPr>
          </a:p>
        </p:txBody>
      </p:sp>
      <p:sp>
        <p:nvSpPr>
          <p:cNvPr id="92" name="Text 90"/>
          <p:cNvSpPr/>
          <p:nvPr/>
        </p:nvSpPr>
        <p:spPr>
          <a:xfrm>
            <a:off x="6855653" y="3001830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{{QZ03_ATT}} att.  ·  {{QZ03_SCORE}}%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846320" y="3332696"/>
            <a:ext cx="3977640" cy="304341"/>
          </a:xfrm>
          <a:prstGeom prst="roundRect">
            <a:avLst>
              <a:gd name="adj" fmla="val 12766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956048" y="3349816"/>
            <a:ext cx="2926080" cy="142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Refraction Quiz</a:t>
            </a:r>
            <a:endParaRPr lang="en-US" sz="950" dirty="0">
              <a:solidFill>
                <a:srgbClr val="FFFF00"/>
              </a:solidFill>
            </a:endParaRPr>
          </a:p>
        </p:txBody>
      </p:sp>
      <p:sp>
        <p:nvSpPr>
          <p:cNvPr id="95" name="Text 93"/>
          <p:cNvSpPr/>
          <p:nvPr/>
        </p:nvSpPr>
        <p:spPr>
          <a:xfrm>
            <a:off x="4956048" y="3538728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8 · Physics</a:t>
            </a:r>
            <a:endParaRPr lang="en-US" sz="750" dirty="0">
              <a:solidFill>
                <a:srgbClr val="FFC000"/>
              </a:solidFill>
            </a:endParaRPr>
          </a:p>
        </p:txBody>
      </p:sp>
      <p:sp>
        <p:nvSpPr>
          <p:cNvPr id="96" name="Text 94"/>
          <p:cNvSpPr/>
          <p:nvPr/>
        </p:nvSpPr>
        <p:spPr>
          <a:xfrm>
            <a:off x="6855653" y="3454166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{{QZ04_ATT}} att.  ·  {{QZ04_SCORE}}%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846320" y="3809827"/>
            <a:ext cx="3977640" cy="304341"/>
          </a:xfrm>
          <a:prstGeom prst="roundRect">
            <a:avLst>
              <a:gd name="adj" fmla="val 12766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56048" y="3826947"/>
            <a:ext cx="2926080" cy="142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Motion Laws Quiz</a:t>
            </a:r>
            <a:endParaRPr lang="en-US" sz="950" dirty="0">
              <a:solidFill>
                <a:srgbClr val="FFFF00"/>
              </a:solidFill>
            </a:endParaRPr>
          </a:p>
        </p:txBody>
      </p:sp>
      <p:sp>
        <p:nvSpPr>
          <p:cNvPr id="99" name="Text 97"/>
          <p:cNvSpPr/>
          <p:nvPr/>
        </p:nvSpPr>
        <p:spPr>
          <a:xfrm>
            <a:off x="4956048" y="4015859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11 · Physics</a:t>
            </a:r>
            <a:endParaRPr lang="en-US" sz="750" dirty="0">
              <a:solidFill>
                <a:srgbClr val="FFC000"/>
              </a:solidFill>
            </a:endParaRPr>
          </a:p>
        </p:txBody>
      </p:sp>
      <p:sp>
        <p:nvSpPr>
          <p:cNvPr id="100" name="Text 98"/>
          <p:cNvSpPr/>
          <p:nvPr/>
        </p:nvSpPr>
        <p:spPr>
          <a:xfrm>
            <a:off x="6855653" y="3931297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{{QZ05_ATT}} att.  ·  {{QZ05_SCORE}}%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4846320" y="4273525"/>
            <a:ext cx="3977640" cy="304341"/>
          </a:xfrm>
          <a:prstGeom prst="roundRect">
            <a:avLst>
              <a:gd name="adj" fmla="val 12766"/>
            </a:avLst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56048" y="4290645"/>
            <a:ext cx="2926080" cy="142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 DNA Quiz</a:t>
            </a:r>
            <a:endParaRPr lang="en-US" sz="950" dirty="0">
              <a:solidFill>
                <a:srgbClr val="FFFF00"/>
              </a:solidFill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4956048" y="4479557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12 · Biology</a:t>
            </a:r>
            <a:endParaRPr lang="en-US" sz="750" dirty="0">
              <a:solidFill>
                <a:srgbClr val="FFC000"/>
              </a:solidFill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6855653" y="4394995"/>
            <a:ext cx="1828800" cy="116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{{QZ06_ATT}} att.  ·  {{QZ06_SCORE}}%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16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864" cy="182880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&amp; Accessibility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usage, TTS, subtitles and assistive feature adoption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44E7DB-59AC-DC74-324D-8312D64CB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68" y="4739467"/>
            <a:ext cx="2044972" cy="236566"/>
          </a:xfrm>
          <a:prstGeom prst="rect">
            <a:avLst/>
          </a:prstGeom>
          <a:effectLst>
            <a:outerShdw blurRad="127000" dist="38100" dir="8100000" algn="tr" rotWithShape="0">
              <a:schemeClr val="tx2">
                <a:lumMod val="65000"/>
                <a:alpha val="40000"/>
              </a:scheme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&amp; ACCESSIBILITY 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{{REPORT_MONTH}}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Monthly Report  ·  {{REPORT_MONTH}}  ·  Government of India — Ministry of Education  ·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2880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LANGUAGE DISTRIBUTION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15179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{{LANG_HINDI_SESSIONS}} sessions  ·  {{LANG_HINDI_PCT}}% of total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0" y="1316736"/>
            <a:ext cx="2091791" cy="201168"/>
          </a:xfrm>
          <a:prstGeom prst="roundRect">
            <a:avLst>
              <a:gd name="adj" fmla="val 13636"/>
            </a:avLst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316736"/>
            <a:ext cx="1080821" cy="201168"/>
          </a:xfrm>
          <a:prstGeom prst="roundRect">
            <a:avLst>
              <a:gd name="adj" fmla="val 13636"/>
            </a:avLst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2618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{{LANG_HINDI_PCT}}%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" y="1901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15798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{{LANG_ENGLISH_SESSIONS}} sessions  ·  {{LANG_ENGLISH_PCT}}% of total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371600" y="1956816"/>
            <a:ext cx="2091791" cy="201168"/>
          </a:xfrm>
          <a:prstGeom prst="roundRect">
            <a:avLst>
              <a:gd name="adj" fmla="val 13636"/>
            </a:avLst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1956816"/>
            <a:ext cx="971093" cy="201168"/>
          </a:xfrm>
          <a:prstGeom prst="roundRect">
            <a:avLst>
              <a:gd name="adj" fmla="val 13636"/>
            </a:avLst>
          </a:prstGeom>
          <a:solidFill>
            <a:srgbClr val="1E5499"/>
          </a:solidFill>
          <a:ln w="12700">
            <a:solidFill>
              <a:srgbClr val="1E54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901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54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{{LANG_ENGLISH_PCT}}%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" y="27980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{{LANG_REGION_SESSIONS}} sessions  ·  {{LANG_REGION_PCT}}% of total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71600" y="2596896"/>
            <a:ext cx="2091791" cy="201168"/>
          </a:xfrm>
          <a:prstGeom prst="roundRect">
            <a:avLst>
              <a:gd name="adj" fmla="val 13636"/>
            </a:avLst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2596896"/>
            <a:ext cx="688543" cy="201168"/>
          </a:xfrm>
          <a:prstGeom prst="roundRect">
            <a:avLst>
              <a:gd name="adj" fmla="val 13636"/>
            </a:avLst>
          </a:prstGeom>
          <a:solidFill>
            <a:srgbClr val="2A7D5A"/>
          </a:solidFill>
          <a:ln w="12700">
            <a:solidFill>
              <a:srgbClr val="2A7D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5420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{{LANG_REGION_PCT}}%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3291840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355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LANGUAGE SWITCHES PER SESSION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4320" y="3538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{{LANG_SWITCHES}}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617720" y="914400"/>
            <a:ext cx="4297680" cy="3749040"/>
          </a:xfrm>
          <a:prstGeom prst="roundRect">
            <a:avLst>
              <a:gd name="adj" fmla="val 2439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987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FEATURE ADOPTION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Used 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1371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{{ACC_TTS}}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636776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773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Subtitles Used 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17739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{{ACC_SUB}}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039112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 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21762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{{ACC_CONTRAST}}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441448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Text 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2578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{{ACC_LGTXT}}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843784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80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Blind Mode 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29809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{{ACC_CBLIND}}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246120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Fallback 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33832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{{ACC_2DFALLBACK}}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648456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785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Feedback 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0" y="37856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{{ACC_HAPTIC}}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4050792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 Events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72400" y="4187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{{ACC_SCREEN_RDR}}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4453128"/>
            <a:ext cx="402336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16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864" cy="182880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&amp; Re-Engagement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campaign delivery, open rates, CTR and opt-out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70990-E559-A858-3486-C9E48F1DB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68" y="4739467"/>
            <a:ext cx="2044972" cy="236566"/>
          </a:xfrm>
          <a:prstGeom prst="rect">
            <a:avLst/>
          </a:prstGeom>
          <a:effectLst>
            <a:outerShdw blurRad="127000" dist="38100" dir="8100000" algn="tr" rotWithShape="0">
              <a:schemeClr val="tx2">
                <a:lumMod val="65000"/>
                <a:alpha val="40000"/>
              </a:scheme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&amp; RE-ENGAGEMENT 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{{REPORT_MONTH}}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Monthly Report  ·  {{REPORT_MONTH}}  ·  Government of India — Ministry of Education  ·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1143000" cy="655455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9509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SENT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82880" y="109728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{{NOTIF_SENT}}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444752" y="914400"/>
            <a:ext cx="1143000" cy="655455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44752" y="9509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444752" y="109728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{{NOTIF_DELIVERED}}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706624" y="914400"/>
            <a:ext cx="1143000" cy="655455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06624" y="9509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%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706624" y="109728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{{NOTIF_DELIVERY_PCT}}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968496" y="914400"/>
            <a:ext cx="1143000" cy="655455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68496" y="9509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968496" y="109728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{{NOTIF_OPENED}}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230368" y="914400"/>
            <a:ext cx="1143000" cy="655455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30368" y="9509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 %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230368" y="109728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{{NOTIF_OPEN_PCT}}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92240" y="914400"/>
            <a:ext cx="1143000" cy="655455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9509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%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492240" y="109728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{{NOTIF_CTR}}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54112" y="914400"/>
            <a:ext cx="1143000" cy="655455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54112" y="9509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OPT-OUT RATE %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7754112" y="109728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{{NOTIF_OPT_OUT}}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82880" y="17268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NOTIFICATION TYPE</a:t>
            </a:r>
            <a:endParaRPr lang="en-US" sz="1400" dirty="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CBE97E5-61EF-2CFC-3414-F86C81E668F8}"/>
              </a:ext>
            </a:extLst>
          </p:cNvPr>
          <p:cNvGrpSpPr/>
          <p:nvPr/>
        </p:nvGrpSpPr>
        <p:grpSpPr>
          <a:xfrm>
            <a:off x="1325880" y="1947672"/>
            <a:ext cx="6492240" cy="1371600"/>
            <a:chOff x="182880" y="1947672"/>
            <a:chExt cx="6492240" cy="1371600"/>
          </a:xfrm>
        </p:grpSpPr>
        <p:sp>
          <p:nvSpPr>
            <p:cNvPr id="30" name="Shape 28"/>
            <p:cNvSpPr/>
            <p:nvPr/>
          </p:nvSpPr>
          <p:spPr>
            <a:xfrm>
              <a:off x="182880" y="1947672"/>
              <a:ext cx="6492240" cy="274320"/>
            </a:xfrm>
            <a:prstGeom prst="rect">
              <a:avLst/>
            </a:prstGeom>
            <a:solidFill>
              <a:srgbClr val="0B2545"/>
            </a:solidFill>
            <a:ln w="12700">
              <a:solidFill>
                <a:srgbClr val="0B2545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228600" y="1947672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Type</a:t>
              </a:r>
              <a:endParaRPr lang="en-US" sz="8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1965960" y="194767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</a:t>
              </a:r>
              <a:endParaRPr lang="en-US" sz="8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2697480" y="194767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Delivered</a:t>
              </a:r>
              <a:endParaRPr lang="en-US" sz="8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3429000" y="19476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 %</a:t>
              </a:r>
              <a:endParaRPr lang="en-US" sz="8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069080" y="194767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Opened</a:t>
              </a:r>
              <a:endParaRPr lang="en-US" sz="8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800600" y="19476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%</a:t>
              </a:r>
              <a:endParaRPr lang="en-US" sz="8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440680" y="19476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Clicked</a:t>
              </a:r>
              <a:endParaRPr lang="en-US" sz="8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080760" y="19476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CTR %</a:t>
              </a:r>
              <a:endParaRPr lang="en-US" sz="8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228600" y="2221992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Push — New Content</a:t>
              </a:r>
              <a:endParaRPr lang="en-US" sz="9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965960" y="222199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{{NT1_SENT}}</a:t>
              </a:r>
              <a:endParaRPr lang="en-US" sz="9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2697480" y="222199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{{NT1_DEL}}</a:t>
              </a:r>
              <a:endParaRPr lang="en-US" sz="9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3429000" y="222199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{{NT1_DELPCT}}</a:t>
              </a:r>
              <a:endParaRPr lang="en-US" sz="9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069080" y="222199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{{NT1_OPEN}}</a:t>
              </a:r>
              <a:endParaRPr lang="en-US" sz="9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4800600" y="222199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{{NT1_OPENPCT}}</a:t>
              </a:r>
              <a:endParaRPr lang="en-US" sz="9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5440680" y="222199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{{NT1_CLICK}}</a:t>
              </a:r>
              <a:endParaRPr lang="en-US" sz="9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6080760" y="222199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{{NT1_CTR}}</a:t>
              </a:r>
              <a:endParaRPr lang="en-US" sz="9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182880" y="2491740"/>
              <a:ext cx="649224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182880" y="2496312"/>
              <a:ext cx="6492240" cy="274320"/>
            </a:xfrm>
            <a:prstGeom prst="rect">
              <a:avLst/>
            </a:prstGeom>
            <a:solidFill>
              <a:srgbClr val="EAE9E4"/>
            </a:solidFill>
            <a:ln w="12700">
              <a:solidFill>
                <a:srgbClr val="EAE9E4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228600" y="2496312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Push — Reminder</a:t>
              </a:r>
              <a:endParaRPr lang="en-US" sz="9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1965960" y="249631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{{NT2_SENT}}</a:t>
              </a:r>
              <a:endParaRPr lang="en-US" sz="9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2697480" y="249631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{{NT2_DEL}}</a:t>
              </a:r>
              <a:endParaRPr lang="en-US" sz="9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3429000" y="249631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{{NT2_DELPCT}}</a:t>
              </a:r>
              <a:endParaRPr lang="en-US" sz="9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4069080" y="249631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{{NT2_OPEN}}</a:t>
              </a:r>
              <a:endParaRPr lang="en-US" sz="9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4800600" y="249631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{{NT2_OPENPCT}}</a:t>
              </a:r>
              <a:endParaRPr lang="en-US" sz="9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5440680" y="249631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{{NT2_CLICK}}</a:t>
              </a:r>
              <a:endParaRPr lang="en-US" sz="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6080760" y="249631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{{NT2_CTR}}</a:t>
              </a:r>
              <a:endParaRPr lang="en-US" sz="9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182880" y="2766060"/>
              <a:ext cx="649224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228600" y="2770632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Push — Achievement</a:t>
              </a:r>
              <a:endParaRPr lang="en-US" sz="9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1965960" y="277063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{{NT3_SENT}}</a:t>
              </a:r>
              <a:endParaRPr lang="en-US" sz="9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2697480" y="277063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{{NT3_DEL}}</a:t>
              </a:r>
              <a:endParaRPr lang="en-US" sz="9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3429000" y="277063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{{NT3_DELPCT}}</a:t>
              </a:r>
              <a:endParaRPr lang="en-US" sz="9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4069080" y="277063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{{NT3_OPEN}}</a:t>
              </a:r>
              <a:endParaRPr lang="en-US" sz="9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4800600" y="277063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{{NT3_OPENPCT}}</a:t>
              </a:r>
              <a:endParaRPr lang="en-US" sz="9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5440680" y="277063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{{NT3_CLICK}}</a:t>
              </a:r>
              <a:endParaRPr lang="en-US" sz="9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6080760" y="277063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{{NT3_CTR}}</a:t>
              </a:r>
              <a:endParaRPr lang="en-US" sz="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182880" y="3040380"/>
              <a:ext cx="649224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>
              <a:off x="182880" y="3044952"/>
              <a:ext cx="6492240" cy="274320"/>
            </a:xfrm>
            <a:prstGeom prst="rect">
              <a:avLst/>
            </a:prstGeom>
            <a:solidFill>
              <a:srgbClr val="EAE9E4"/>
            </a:solidFill>
            <a:ln w="12700">
              <a:solidFill>
                <a:srgbClr val="EAE9E4"/>
              </a:solidFill>
              <a:prstDash val="solid"/>
            </a:ln>
          </p:spPr>
        </p:sp>
        <p:sp>
          <p:nvSpPr>
            <p:cNvPr id="68" name="Text 66"/>
            <p:cNvSpPr/>
            <p:nvPr/>
          </p:nvSpPr>
          <p:spPr>
            <a:xfrm>
              <a:off x="228600" y="3044952"/>
              <a:ext cx="1645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Push — Re-engagement</a:t>
              </a:r>
              <a:endParaRPr lang="en-US" sz="9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1965960" y="304495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{{NT4_SENT}}</a:t>
              </a:r>
              <a:endParaRPr lang="en-US" sz="90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2697480" y="304495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{{NT4_DEL}}</a:t>
              </a:r>
              <a:endParaRPr lang="en-US" sz="9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3429000" y="304495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{{NT4_DELPCT}}</a:t>
              </a:r>
              <a:endParaRPr lang="en-US" sz="900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4069080" y="3044952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{{NT4_OPEN}}</a:t>
              </a:r>
              <a:endParaRPr lang="en-US" sz="90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4800600" y="304495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{{NT4_OPENPCT}}</a:t>
              </a:r>
              <a:endParaRPr lang="en-US" sz="9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5440680" y="304495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{{NT4_CLICK}}</a:t>
              </a:r>
              <a:endParaRPr lang="en-US" sz="9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6080760" y="304495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{{NT4_CTR}}</a:t>
              </a:r>
              <a:endParaRPr lang="en-US" sz="9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182880" y="3314700"/>
              <a:ext cx="649224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97073D6-9BFB-1CD1-E807-3942AB1D3F09}"/>
              </a:ext>
            </a:extLst>
          </p:cNvPr>
          <p:cNvGrpSpPr/>
          <p:nvPr/>
        </p:nvGrpSpPr>
        <p:grpSpPr>
          <a:xfrm>
            <a:off x="566523" y="3557016"/>
            <a:ext cx="5906215" cy="1097280"/>
            <a:chOff x="-146304" y="3621024"/>
            <a:chExt cx="5906215" cy="1097280"/>
          </a:xfrm>
        </p:grpSpPr>
        <p:sp>
          <p:nvSpPr>
            <p:cNvPr id="77" name="Text 75"/>
            <p:cNvSpPr/>
            <p:nvPr/>
          </p:nvSpPr>
          <p:spPr>
            <a:xfrm>
              <a:off x="-146304" y="4009644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25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BY TARGET GENDER</a:t>
              </a:r>
              <a:endParaRPr lang="en-US" sz="12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2742391" y="3621024"/>
              <a:ext cx="3017520" cy="274320"/>
            </a:xfrm>
            <a:prstGeom prst="rect">
              <a:avLst/>
            </a:prstGeom>
            <a:solidFill>
              <a:srgbClr val="0B2545"/>
            </a:solidFill>
            <a:ln w="12700">
              <a:solidFill>
                <a:srgbClr val="0B2545"/>
              </a:solidFill>
              <a:prstDash val="solid"/>
            </a:ln>
          </p:spPr>
        </p:sp>
        <p:sp>
          <p:nvSpPr>
            <p:cNvPr id="79" name="Text 77"/>
            <p:cNvSpPr/>
            <p:nvPr/>
          </p:nvSpPr>
          <p:spPr>
            <a:xfrm>
              <a:off x="2788111" y="3621024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Gender</a:t>
              </a:r>
              <a:endParaRPr lang="en-US" sz="800" dirty="0"/>
            </a:p>
          </p:txBody>
        </p:sp>
        <p:sp>
          <p:nvSpPr>
            <p:cNvPr id="80" name="Text 78"/>
            <p:cNvSpPr/>
            <p:nvPr/>
          </p:nvSpPr>
          <p:spPr>
            <a:xfrm>
              <a:off x="3611071" y="362102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</a:t>
              </a:r>
              <a:endParaRPr lang="en-US" sz="8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4342591" y="362102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%</a:t>
              </a:r>
              <a:endParaRPr lang="en-US" sz="80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5074111" y="362102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CTR %</a:t>
              </a:r>
              <a:endParaRPr lang="en-US" sz="800" dirty="0"/>
            </a:p>
          </p:txBody>
        </p:sp>
        <p:sp>
          <p:nvSpPr>
            <p:cNvPr id="83" name="Text 81"/>
            <p:cNvSpPr/>
            <p:nvPr/>
          </p:nvSpPr>
          <p:spPr>
            <a:xfrm>
              <a:off x="2788111" y="3895344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</a:t>
              </a:r>
              <a:endParaRPr lang="en-US" sz="900" dirty="0"/>
            </a:p>
          </p:txBody>
        </p:sp>
        <p:sp>
          <p:nvSpPr>
            <p:cNvPr id="84" name="Text 82"/>
            <p:cNvSpPr/>
            <p:nvPr/>
          </p:nvSpPr>
          <p:spPr>
            <a:xfrm>
              <a:off x="3611071" y="389534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{{NG_ALL_SENT}}</a:t>
              </a:r>
              <a:endParaRPr lang="en-US" sz="9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4342591" y="389534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{{NG_ALL_OPENPCT}}</a:t>
              </a:r>
              <a:endParaRPr lang="en-US" sz="900" b="1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5074111" y="389534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{{NG_ALL_CTR}}</a:t>
              </a:r>
              <a:endParaRPr lang="en-US" sz="900" b="1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2742391" y="4165092"/>
              <a:ext cx="301752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88" name="Shape 86"/>
            <p:cNvSpPr/>
            <p:nvPr/>
          </p:nvSpPr>
          <p:spPr>
            <a:xfrm>
              <a:off x="2742391" y="4169664"/>
              <a:ext cx="3017520" cy="274320"/>
            </a:xfrm>
            <a:prstGeom prst="rect">
              <a:avLst/>
            </a:prstGeom>
            <a:solidFill>
              <a:srgbClr val="EAE9E4"/>
            </a:solidFill>
            <a:ln w="12700">
              <a:solidFill>
                <a:srgbClr val="EAE9E4"/>
              </a:solidFill>
              <a:prstDash val="solid"/>
            </a:ln>
          </p:spPr>
        </p:sp>
        <p:sp>
          <p:nvSpPr>
            <p:cNvPr id="89" name="Text 87"/>
            <p:cNvSpPr/>
            <p:nvPr/>
          </p:nvSpPr>
          <p:spPr>
            <a:xfrm>
              <a:off x="2788111" y="4169664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Male</a:t>
              </a:r>
              <a:endParaRPr lang="en-US" sz="900" dirty="0"/>
            </a:p>
          </p:txBody>
        </p:sp>
        <p:sp>
          <p:nvSpPr>
            <p:cNvPr id="90" name="Text 88"/>
            <p:cNvSpPr/>
            <p:nvPr/>
          </p:nvSpPr>
          <p:spPr>
            <a:xfrm>
              <a:off x="3611071" y="416966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{{NG_MALE_SENT}}</a:t>
              </a:r>
              <a:endParaRPr lang="en-US" sz="900" dirty="0"/>
            </a:p>
          </p:txBody>
        </p:sp>
        <p:sp>
          <p:nvSpPr>
            <p:cNvPr id="91" name="Text 89"/>
            <p:cNvSpPr/>
            <p:nvPr/>
          </p:nvSpPr>
          <p:spPr>
            <a:xfrm>
              <a:off x="4342591" y="416966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{{NG_MALE_OPENPCT}}</a:t>
              </a:r>
              <a:endParaRPr lang="en-US" sz="900" b="1" dirty="0"/>
            </a:p>
          </p:txBody>
        </p:sp>
        <p:sp>
          <p:nvSpPr>
            <p:cNvPr id="92" name="Text 90"/>
            <p:cNvSpPr/>
            <p:nvPr/>
          </p:nvSpPr>
          <p:spPr>
            <a:xfrm>
              <a:off x="5074111" y="416966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{{NG_MALE_CTR}}</a:t>
              </a:r>
              <a:endParaRPr lang="en-US" sz="900" b="1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2742391" y="4439412"/>
              <a:ext cx="301752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94" name="Text 92"/>
            <p:cNvSpPr/>
            <p:nvPr/>
          </p:nvSpPr>
          <p:spPr>
            <a:xfrm>
              <a:off x="2788111" y="4443984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Female</a:t>
              </a:r>
              <a:endParaRPr lang="en-US" sz="900"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3611071" y="444398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{{NG_FEM_SENT}}</a:t>
              </a:r>
              <a:endParaRPr lang="en-US" sz="900" dirty="0"/>
            </a:p>
          </p:txBody>
        </p:sp>
        <p:sp>
          <p:nvSpPr>
            <p:cNvPr id="96" name="Text 94"/>
            <p:cNvSpPr/>
            <p:nvPr/>
          </p:nvSpPr>
          <p:spPr>
            <a:xfrm>
              <a:off x="4342591" y="444398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{{NG_FEM_OPENPCT}}</a:t>
              </a:r>
              <a:endParaRPr lang="en-US" sz="900" b="1" dirty="0"/>
            </a:p>
          </p:txBody>
        </p:sp>
        <p:sp>
          <p:nvSpPr>
            <p:cNvPr id="97" name="Text 95"/>
            <p:cNvSpPr/>
            <p:nvPr/>
          </p:nvSpPr>
          <p:spPr>
            <a:xfrm>
              <a:off x="5074111" y="4443984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{{NG_FEM_CTR}}</a:t>
              </a:r>
              <a:endParaRPr lang="en-US" sz="900" b="1" dirty="0"/>
            </a:p>
          </p:txBody>
        </p:sp>
        <p:sp>
          <p:nvSpPr>
            <p:cNvPr id="98" name="Shape 96"/>
            <p:cNvSpPr/>
            <p:nvPr/>
          </p:nvSpPr>
          <p:spPr>
            <a:xfrm>
              <a:off x="2742391" y="4713732"/>
              <a:ext cx="301752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16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864" cy="182880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&amp; NPS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ratings, NPS scores and qualitative sentiment breakdown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C57D45-7229-E543-6F16-8BA53F979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68" y="4739467"/>
            <a:ext cx="2044972" cy="236566"/>
          </a:xfrm>
          <a:prstGeom prst="rect">
            <a:avLst/>
          </a:prstGeom>
          <a:effectLst>
            <a:outerShdw blurRad="127000" dist="38100" dir="8100000" algn="tr" rotWithShape="0">
              <a:schemeClr val="tx2">
                <a:lumMod val="65000"/>
                <a:alpha val="40000"/>
              </a:scheme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&amp; NPS 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{{REPORT_MONTH}}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Monthly Report  ·  {{REPORT_MONTH}}  ·  Government of India — Ministry of Education  ·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9601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RESPONSES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82880" y="1115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{{FB_TOTAL}}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956816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56816" y="9601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/5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956816" y="1115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{{FB_AVG_RATING}}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730752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0752" y="9601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3730752" y="1115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{{NPS_SCORE}}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504688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04688" y="9601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 (9-10)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5504688" y="1115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{{NPS_PROMO}}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278624" y="91440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78624" y="9601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DETRACTORS (0-6)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7278624" y="11155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{{NPS_DETRACT}}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2880" y="1801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FLAGS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2148840"/>
            <a:ext cx="4114800" cy="320040"/>
          </a:xfrm>
          <a:prstGeom prst="roundRect">
            <a:avLst>
              <a:gd name="adj" fmla="val 17143"/>
            </a:avLst>
          </a:prstGeom>
          <a:solidFill>
            <a:srgbClr val="0E3D2A"/>
          </a:solidFill>
          <a:ln w="6350">
            <a:solidFill>
              <a:srgbClr val="2A7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185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Loved 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185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EC9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{{FB_LOVED}}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" y="2551176"/>
            <a:ext cx="4114800" cy="320040"/>
          </a:xfrm>
          <a:prstGeom prst="roundRect">
            <a:avLst>
              <a:gd name="adj" fmla="val 17143"/>
            </a:avLst>
          </a:prstGeom>
          <a:solidFill>
            <a:srgbClr val="2A1A0E"/>
          </a:solidFill>
          <a:ln w="6350">
            <a:solidFill>
              <a:srgbClr val="B89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Confusing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2587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{{FB_CONFUSING}}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" y="2953512"/>
            <a:ext cx="4114800" cy="320040"/>
          </a:xfrm>
          <a:prstGeom prst="roundRect">
            <a:avLst>
              <a:gd name="adj" fmla="val 17143"/>
            </a:avLst>
          </a:prstGeom>
          <a:solidFill>
            <a:srgbClr val="2A1A0E"/>
          </a:solidFill>
          <a:ln w="6350">
            <a:solidFill>
              <a:srgbClr val="B89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990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 Fast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2990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{{FB_TOOFAST}}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880" y="3355848"/>
            <a:ext cx="4114800" cy="320040"/>
          </a:xfrm>
          <a:prstGeom prst="roundRect">
            <a:avLst>
              <a:gd name="adj" fmla="val 17143"/>
            </a:avLst>
          </a:prstGeom>
          <a:solidFill>
            <a:srgbClr val="2A1A0E"/>
          </a:solidFill>
          <a:ln w="6350">
            <a:solidFill>
              <a:srgbClr val="B89A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392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 Easy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3392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{{FB_TOOEASY}}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82880" y="3758184"/>
            <a:ext cx="4114800" cy="320040"/>
          </a:xfrm>
          <a:prstGeom prst="roundRect">
            <a:avLst>
              <a:gd name="adj" fmla="val 17143"/>
            </a:avLst>
          </a:prstGeom>
          <a:solidFill>
            <a:srgbClr val="2A1A0E"/>
          </a:solidFill>
          <a:ln w="6350">
            <a:solidFill>
              <a:srgbClr val="B89A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Boring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91840" y="3794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{{FB_BORING}}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2" y="1801368"/>
            <a:ext cx="4297680" cy="2953512"/>
          </a:xfrm>
          <a:prstGeom prst="roundRect">
            <a:avLst>
              <a:gd name="adj" fmla="val 2439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63442" y="186276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BY GENDER</a:t>
            </a:r>
            <a:endParaRPr lang="en-US" sz="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663442" y="2063937"/>
            <a:ext cx="4114800" cy="274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2" y="206393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23562" y="206393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6263642" y="206393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7178042" y="206393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8001002" y="206393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4709162" y="233825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5623562" y="233825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{{GN_MALE_RESP}}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6263642" y="233825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{{GN_MALE_RATING}}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7178042" y="233825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{{GN_MALE_PROMO}}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8001002" y="233825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{{GN_MALE_NPS}}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663442" y="2608005"/>
            <a:ext cx="41148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2" y="2612577"/>
            <a:ext cx="4114800" cy="274320"/>
          </a:xfrm>
          <a:prstGeom prst="rect">
            <a:avLst/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2" y="261257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5623562" y="261257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{{GN_FEM_RESP}}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6263642" y="261257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{{GN_FEM_RATING}}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7178042" y="261257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{{GN_FEM_PROMO}}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8001002" y="261257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{{GN_FEM_NPS}}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663442" y="2882325"/>
            <a:ext cx="41148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9162" y="288689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Text 59"/>
          <p:cNvSpPr/>
          <p:nvPr/>
        </p:nvSpPr>
        <p:spPr>
          <a:xfrm>
            <a:off x="5623562" y="288689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{{GN_OTH_RESP}}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62" name="Text 60"/>
          <p:cNvSpPr/>
          <p:nvPr/>
        </p:nvSpPr>
        <p:spPr>
          <a:xfrm>
            <a:off x="6263642" y="288689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{{GN_OTH_RATING}}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7178042" y="288689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{{GN_OTH_PROMO}}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64" name="Text 62"/>
          <p:cNvSpPr/>
          <p:nvPr/>
        </p:nvSpPr>
        <p:spPr>
          <a:xfrm>
            <a:off x="8001002" y="288689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{{GN_OTH_NPS}}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663442" y="3156645"/>
            <a:ext cx="41148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2" y="3261801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BY MOBILE OWNER</a:t>
            </a:r>
            <a:endParaRPr lang="en-US" sz="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7" name="Shape 65"/>
          <p:cNvSpPr/>
          <p:nvPr/>
        </p:nvSpPr>
        <p:spPr>
          <a:xfrm>
            <a:off x="4663442" y="3554409"/>
            <a:ext cx="4114800" cy="274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9162" y="355440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Text 67"/>
          <p:cNvSpPr/>
          <p:nvPr/>
        </p:nvSpPr>
        <p:spPr>
          <a:xfrm>
            <a:off x="5623562" y="3554409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6263642" y="355440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" name="Text 69"/>
          <p:cNvSpPr/>
          <p:nvPr/>
        </p:nvSpPr>
        <p:spPr>
          <a:xfrm>
            <a:off x="7178042" y="355440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Text 70"/>
          <p:cNvSpPr/>
          <p:nvPr/>
        </p:nvSpPr>
        <p:spPr>
          <a:xfrm>
            <a:off x="8001002" y="355440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Text 71"/>
          <p:cNvSpPr/>
          <p:nvPr/>
        </p:nvSpPr>
        <p:spPr>
          <a:xfrm>
            <a:off x="4709162" y="382872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</a:t>
            </a:r>
            <a:endParaRPr lang="en-US" sz="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4" name="Text 72"/>
          <p:cNvSpPr/>
          <p:nvPr/>
        </p:nvSpPr>
        <p:spPr>
          <a:xfrm>
            <a:off x="5623562" y="3828729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{{MN_MTH_RESP}}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5" name="Text 73"/>
          <p:cNvSpPr/>
          <p:nvPr/>
        </p:nvSpPr>
        <p:spPr>
          <a:xfrm>
            <a:off x="6263642" y="382872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{{MN_MTH_RATING}}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6" name="Text 74"/>
          <p:cNvSpPr/>
          <p:nvPr/>
        </p:nvSpPr>
        <p:spPr>
          <a:xfrm>
            <a:off x="7178042" y="382872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{{MN_MTH_PROMO}}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7" name="Text 75"/>
          <p:cNvSpPr/>
          <p:nvPr/>
        </p:nvSpPr>
        <p:spPr>
          <a:xfrm>
            <a:off x="8001002" y="382872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{{MN_MTH_NPS}}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663442" y="4098477"/>
            <a:ext cx="41148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63442" y="4103049"/>
            <a:ext cx="4114800" cy="274320"/>
          </a:xfrm>
          <a:prstGeom prst="rect">
            <a:avLst/>
          </a:prstGeom>
          <a:solidFill>
            <a:srgbClr val="163D6E"/>
          </a:solidFill>
          <a:ln w="12700">
            <a:solidFill>
              <a:srgbClr val="163D6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09162" y="410304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</a:t>
            </a:r>
            <a:endParaRPr lang="en-US" sz="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1" name="Text 79"/>
          <p:cNvSpPr/>
          <p:nvPr/>
        </p:nvSpPr>
        <p:spPr>
          <a:xfrm>
            <a:off x="5623562" y="4103049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{{MN_FAT_RESP}}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2" name="Text 80"/>
          <p:cNvSpPr/>
          <p:nvPr/>
        </p:nvSpPr>
        <p:spPr>
          <a:xfrm>
            <a:off x="6263642" y="410304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{{MN_FAT_RATING}}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3" name="Text 81"/>
          <p:cNvSpPr/>
          <p:nvPr/>
        </p:nvSpPr>
        <p:spPr>
          <a:xfrm>
            <a:off x="7178042" y="410304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{{MN_FAT_PROMO}}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4" name="Text 82"/>
          <p:cNvSpPr/>
          <p:nvPr/>
        </p:nvSpPr>
        <p:spPr>
          <a:xfrm>
            <a:off x="8001002" y="410304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{{MN_FAT_NPS}}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5" name="Shape 83"/>
          <p:cNvSpPr/>
          <p:nvPr/>
        </p:nvSpPr>
        <p:spPr>
          <a:xfrm>
            <a:off x="4663442" y="4372797"/>
            <a:ext cx="41148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09162" y="437736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7" name="Text 85"/>
          <p:cNvSpPr/>
          <p:nvPr/>
        </p:nvSpPr>
        <p:spPr>
          <a:xfrm>
            <a:off x="5623562" y="4377369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{{MN_SEL_RESP}}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8" name="Text 86"/>
          <p:cNvSpPr/>
          <p:nvPr/>
        </p:nvSpPr>
        <p:spPr>
          <a:xfrm>
            <a:off x="6263642" y="437736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{{MN_SEL_RATING}}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9" name="Text 87"/>
          <p:cNvSpPr/>
          <p:nvPr/>
        </p:nvSpPr>
        <p:spPr>
          <a:xfrm>
            <a:off x="7178042" y="437736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{{MN_SEL_PROMO}}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90" name="Text 88"/>
          <p:cNvSpPr/>
          <p:nvPr/>
        </p:nvSpPr>
        <p:spPr>
          <a:xfrm>
            <a:off x="8001002" y="437736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{{MN_SEL_NPS}}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91" name="Shape 89"/>
          <p:cNvSpPr/>
          <p:nvPr/>
        </p:nvSpPr>
        <p:spPr>
          <a:xfrm>
            <a:off x="4663442" y="4647117"/>
            <a:ext cx="411480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16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864" cy="182880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 Drilldown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district-level reach, risk and engagement heatmap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564B77-93D0-27A1-33B3-170CC0259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68" y="4739467"/>
            <a:ext cx="2044972" cy="236566"/>
          </a:xfrm>
          <a:prstGeom prst="rect">
            <a:avLst/>
          </a:prstGeom>
          <a:effectLst>
            <a:outerShdw blurRad="127000" dist="38100" dir="8100000" algn="tr" rotWithShape="0">
              <a:schemeClr val="tx2">
                <a:lumMod val="65000"/>
                <a:alpha val="40000"/>
              </a:scheme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DISTRICT-LEVEL REACH &amp; ENGAGEMENT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{{REPORT_MONTH}}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Monthly Report  ·  {{REPORT_MONTH}}  ·  Government of India — Ministry of Education  ·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2880" y="9144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DRILLDOWN TABLE  (filtered by selected scope)</a:t>
            </a:r>
            <a:endParaRPr lang="en-US" sz="1200" dirty="0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D0BB87B-E86C-17CF-98B1-1C2557B6A330}"/>
              </a:ext>
            </a:extLst>
          </p:cNvPr>
          <p:cNvGrpSpPr/>
          <p:nvPr/>
        </p:nvGrpSpPr>
        <p:grpSpPr>
          <a:xfrm>
            <a:off x="914400" y="1234440"/>
            <a:ext cx="7315200" cy="3291840"/>
            <a:chOff x="182880" y="1234440"/>
            <a:chExt cx="7315200" cy="3291840"/>
          </a:xfrm>
        </p:grpSpPr>
        <p:sp>
          <p:nvSpPr>
            <p:cNvPr id="9" name="Shape 7"/>
            <p:cNvSpPr/>
            <p:nvPr/>
          </p:nvSpPr>
          <p:spPr>
            <a:xfrm>
              <a:off x="182880" y="1234440"/>
              <a:ext cx="7315200" cy="274320"/>
            </a:xfrm>
            <a:prstGeom prst="rect">
              <a:avLst/>
            </a:prstGeom>
            <a:solidFill>
              <a:srgbClr val="0B2545"/>
            </a:solidFill>
            <a:ln w="12700">
              <a:solidFill>
                <a:srgbClr val="0B2545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28600" y="1234440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State</a:t>
              </a:r>
              <a:endParaRPr lang="en-US" sz="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600200" y="1234440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District</a:t>
              </a:r>
              <a:endParaRPr lang="en-US" sz="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971800" y="1234440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Active Users</a:t>
              </a:r>
              <a:endParaRPr lang="en-US" sz="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749040" y="123444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Sessions</a:t>
              </a:r>
              <a:endParaRPr lang="en-US" sz="8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389120" y="123444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 Comp %</a:t>
              </a:r>
              <a:endParaRPr lang="en-US" sz="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029200" y="123444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Quiz Att.</a:t>
              </a:r>
              <a:endParaRPr lang="en-US" sz="8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669280" y="123444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 Quiz %</a:t>
              </a:r>
              <a:endParaRPr lang="en-US" sz="8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309360" y="1234440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Schools</a:t>
              </a:r>
              <a:endParaRPr lang="en-US" sz="8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903720" y="123444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Risk</a:t>
              </a:r>
              <a:endParaRPr lang="en-US" sz="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28600" y="1508760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Bihar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600200" y="1508760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Patna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971800" y="1508760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{{D01_USERS}}</a:t>
              </a:r>
              <a:endParaRPr lang="en-US" sz="9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749040" y="150876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{{D01_SESS}}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389120" y="150876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{{D01_ARCOMP}}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029200" y="150876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{{D01_QUIZ}}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669280" y="150876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{{D01_QUIZSCORE}}</a:t>
              </a:r>
              <a:endParaRPr lang="en-US" sz="9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309360" y="1508760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{{D01_SCHOOLS}}</a:t>
              </a:r>
              <a:endParaRPr lang="en-US" sz="9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903720" y="150876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{{D01_RISK}}</a:t>
              </a:r>
              <a:endParaRPr lang="en-US" sz="9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82880" y="1778508"/>
              <a:ext cx="731520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182880" y="1810512"/>
              <a:ext cx="7315200" cy="301752"/>
            </a:xfrm>
            <a:prstGeom prst="rect">
              <a:avLst/>
            </a:prstGeom>
            <a:solidFill>
              <a:srgbClr val="EAE9E4"/>
            </a:solidFill>
            <a:ln w="12700">
              <a:solidFill>
                <a:srgbClr val="EAE9E4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228600" y="181051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Uttar Pradesh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600200" y="181051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Lucknow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971800" y="1810512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{{D02_USERS}}</a:t>
              </a:r>
              <a:endParaRPr lang="en-US" sz="9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3749040" y="181051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{{D02_SESS}}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389120" y="181051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{{D02_ARCOMP}}</a:t>
              </a:r>
              <a:endParaRPr lang="en-US" sz="9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5029200" y="181051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{{D02_QUIZ}}</a:t>
              </a:r>
              <a:endParaRPr lang="en-US" sz="9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5669280" y="181051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{{D02_QUIZSCORE}}</a:t>
              </a:r>
              <a:endParaRPr lang="en-US" sz="9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6309360" y="1810512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{{D02_SCHOOLS}}</a:t>
              </a:r>
              <a:endParaRPr lang="en-US" sz="9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903720" y="181051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{{D02_RISK}}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182880" y="2080260"/>
              <a:ext cx="731520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228600" y="2112264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Rajasthan</a:t>
              </a:r>
              <a:endParaRPr lang="en-US" sz="9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1600200" y="2112264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Jaipur</a:t>
              </a:r>
              <a:endParaRPr lang="en-US" sz="9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2971800" y="2112264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{{D03_USERS}}</a:t>
              </a:r>
              <a:endParaRPr lang="en-US" sz="9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3749040" y="2112264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{{D03_SESS}}</a:t>
              </a:r>
              <a:endParaRPr lang="en-US" sz="9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4389120" y="2112264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{{D03_ARCOMP}}</a:t>
              </a:r>
              <a:endParaRPr lang="en-US" sz="9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5029200" y="2112264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{{D03_QUIZ}}</a:t>
              </a:r>
              <a:endParaRPr lang="en-US" sz="9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5669280" y="2112264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{{D03_QUIZSCORE}}</a:t>
              </a:r>
              <a:endParaRPr lang="en-US" sz="9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6309360" y="2112264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{{D03_SCHOOLS}}</a:t>
              </a:r>
              <a:endParaRPr lang="en-US" sz="9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6903720" y="2112264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{{D03_RISK}}</a:t>
              </a:r>
              <a:endParaRPr lang="en-US" sz="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182880" y="2382012"/>
              <a:ext cx="731520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182880" y="2414016"/>
              <a:ext cx="7315200" cy="301752"/>
            </a:xfrm>
            <a:prstGeom prst="rect">
              <a:avLst/>
            </a:prstGeom>
            <a:solidFill>
              <a:srgbClr val="EAE9E4"/>
            </a:solidFill>
            <a:ln w="12700">
              <a:solidFill>
                <a:srgbClr val="EAE9E4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228600" y="2414016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Karnataka</a:t>
              </a:r>
              <a:endParaRPr lang="en-US" sz="9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1600200" y="2414016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Bengaluru</a:t>
              </a:r>
              <a:endParaRPr lang="en-US" sz="9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2971800" y="2414016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{{D04_USERS}}</a:t>
              </a:r>
              <a:endParaRPr lang="en-US" sz="9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3749040" y="241401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{{D04_SESS}}</a:t>
              </a:r>
              <a:endParaRPr lang="en-US" sz="9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4389120" y="241401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{{D04_ARCOMP}}</a:t>
              </a:r>
              <a:endParaRPr lang="en-US" sz="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5029200" y="241401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{{D04_QUIZ}}</a:t>
              </a:r>
              <a:endParaRPr lang="en-US" sz="9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5669280" y="241401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{{D04_QUIZSCORE}}</a:t>
              </a:r>
              <a:endParaRPr lang="en-US" sz="9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6309360" y="2414016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{{D04_SCHOOLS}}</a:t>
              </a:r>
              <a:endParaRPr lang="en-US" sz="9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6903720" y="241401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{{D04_RISK}}</a:t>
              </a:r>
              <a:endParaRPr lang="en-US" sz="9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182880" y="2683764"/>
              <a:ext cx="731520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228600" y="2715768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Maharashtra</a:t>
              </a:r>
              <a:endParaRPr lang="en-US" sz="9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1600200" y="2715768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Mumbai</a:t>
              </a:r>
              <a:endParaRPr lang="en-US" sz="9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2971800" y="2715768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{{D05_USERS}}</a:t>
              </a:r>
              <a:endParaRPr lang="en-US" sz="9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3749040" y="2715768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{{D05_SESS}}</a:t>
              </a:r>
              <a:endParaRPr lang="en-US" sz="9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4389120" y="2715768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{{D05_ARCOMP}}</a:t>
              </a:r>
              <a:endParaRPr lang="en-US" sz="9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5029200" y="2715768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{{D05_QUIZ}}</a:t>
              </a:r>
              <a:endParaRPr lang="en-US" sz="9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5669280" y="2715768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{{D05_QUIZSCORE}}</a:t>
              </a:r>
              <a:endParaRPr lang="en-US" sz="9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6309360" y="271576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{{D05_SCHOOLS}}</a:t>
              </a:r>
              <a:endParaRPr lang="en-US" sz="9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6903720" y="2715768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{{D05_RISK}}</a:t>
              </a:r>
              <a:endParaRPr lang="en-US" sz="9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182880" y="2985516"/>
              <a:ext cx="731520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71" name="Shape 69"/>
            <p:cNvSpPr/>
            <p:nvPr/>
          </p:nvSpPr>
          <p:spPr>
            <a:xfrm>
              <a:off x="182880" y="3017520"/>
              <a:ext cx="7315200" cy="301752"/>
            </a:xfrm>
            <a:prstGeom prst="rect">
              <a:avLst/>
            </a:prstGeom>
            <a:solidFill>
              <a:srgbClr val="EAE9E4"/>
            </a:solidFill>
            <a:ln w="12700">
              <a:solidFill>
                <a:srgbClr val="EAE9E4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228600" y="3017520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Tamil Nadu</a:t>
              </a:r>
              <a:endParaRPr lang="en-US" sz="90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1600200" y="3017520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Chennai</a:t>
              </a:r>
              <a:endParaRPr lang="en-US" sz="9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2971800" y="3017520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{{D06_USERS}}</a:t>
              </a:r>
              <a:endParaRPr lang="en-US" sz="9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3749040" y="301752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{{D06_SESS}}</a:t>
              </a:r>
              <a:endParaRPr lang="en-US" sz="900" dirty="0"/>
            </a:p>
          </p:txBody>
        </p:sp>
        <p:sp>
          <p:nvSpPr>
            <p:cNvPr id="76" name="Text 74"/>
            <p:cNvSpPr/>
            <p:nvPr/>
          </p:nvSpPr>
          <p:spPr>
            <a:xfrm>
              <a:off x="4389120" y="301752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{{D06_ARCOMP}}</a:t>
              </a:r>
              <a:endParaRPr lang="en-US" sz="900" dirty="0"/>
            </a:p>
          </p:txBody>
        </p:sp>
        <p:sp>
          <p:nvSpPr>
            <p:cNvPr id="77" name="Text 75"/>
            <p:cNvSpPr/>
            <p:nvPr/>
          </p:nvSpPr>
          <p:spPr>
            <a:xfrm>
              <a:off x="5029200" y="301752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{{D06_QUIZ}}</a:t>
              </a:r>
              <a:endParaRPr lang="en-US" sz="9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5669280" y="301752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{{D06_QUIZSCORE}}</a:t>
              </a:r>
              <a:endParaRPr lang="en-US" sz="900" dirty="0"/>
            </a:p>
          </p:txBody>
        </p:sp>
        <p:sp>
          <p:nvSpPr>
            <p:cNvPr id="79" name="Text 77"/>
            <p:cNvSpPr/>
            <p:nvPr/>
          </p:nvSpPr>
          <p:spPr>
            <a:xfrm>
              <a:off x="6309360" y="3017520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{{D06_SCHOOLS}}</a:t>
              </a:r>
              <a:endParaRPr lang="en-US" sz="900" dirty="0"/>
            </a:p>
          </p:txBody>
        </p:sp>
        <p:sp>
          <p:nvSpPr>
            <p:cNvPr id="80" name="Text 78"/>
            <p:cNvSpPr/>
            <p:nvPr/>
          </p:nvSpPr>
          <p:spPr>
            <a:xfrm>
              <a:off x="6903720" y="3017520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{{D06_RISK}}</a:t>
              </a:r>
              <a:endParaRPr lang="en-US" sz="90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182880" y="3287268"/>
              <a:ext cx="731520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82" name="Text 80"/>
            <p:cNvSpPr/>
            <p:nvPr/>
          </p:nvSpPr>
          <p:spPr>
            <a:xfrm>
              <a:off x="228600" y="331927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Gujarat</a:t>
              </a:r>
              <a:endParaRPr lang="en-US" sz="900" dirty="0"/>
            </a:p>
          </p:txBody>
        </p:sp>
        <p:sp>
          <p:nvSpPr>
            <p:cNvPr id="83" name="Text 81"/>
            <p:cNvSpPr/>
            <p:nvPr/>
          </p:nvSpPr>
          <p:spPr>
            <a:xfrm>
              <a:off x="1600200" y="331927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Ahmedabad</a:t>
              </a:r>
              <a:endParaRPr lang="en-US" sz="900" dirty="0"/>
            </a:p>
          </p:txBody>
        </p:sp>
        <p:sp>
          <p:nvSpPr>
            <p:cNvPr id="84" name="Text 82"/>
            <p:cNvSpPr/>
            <p:nvPr/>
          </p:nvSpPr>
          <p:spPr>
            <a:xfrm>
              <a:off x="2971800" y="3319272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{{D07_USERS}}</a:t>
              </a:r>
              <a:endParaRPr lang="en-US" sz="9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3749040" y="33192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{{D07_SESS}}</a:t>
              </a:r>
              <a:endParaRPr lang="en-US" sz="90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4389120" y="33192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{{D07_ARCOMP}}</a:t>
              </a:r>
              <a:endParaRPr lang="en-US" sz="900" dirty="0"/>
            </a:p>
          </p:txBody>
        </p:sp>
        <p:sp>
          <p:nvSpPr>
            <p:cNvPr id="87" name="Text 85"/>
            <p:cNvSpPr/>
            <p:nvPr/>
          </p:nvSpPr>
          <p:spPr>
            <a:xfrm>
              <a:off x="5029200" y="33192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{{D07_QUIZ}}</a:t>
              </a:r>
              <a:endParaRPr lang="en-US" sz="90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5669280" y="33192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{{D07_QUIZSCORE}}</a:t>
              </a:r>
              <a:endParaRPr lang="en-US" sz="900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6309360" y="3319272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{{D07_SCHOOLS}}</a:t>
              </a:r>
              <a:endParaRPr lang="en-US" sz="900" dirty="0"/>
            </a:p>
          </p:txBody>
        </p:sp>
        <p:sp>
          <p:nvSpPr>
            <p:cNvPr id="90" name="Text 88"/>
            <p:cNvSpPr/>
            <p:nvPr/>
          </p:nvSpPr>
          <p:spPr>
            <a:xfrm>
              <a:off x="6903720" y="33192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{{D07_RISK}}</a:t>
              </a:r>
              <a:endParaRPr lang="en-US" sz="900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182880" y="3589020"/>
              <a:ext cx="731520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92" name="Shape 90"/>
            <p:cNvSpPr/>
            <p:nvPr/>
          </p:nvSpPr>
          <p:spPr>
            <a:xfrm>
              <a:off x="182880" y="3621024"/>
              <a:ext cx="7315200" cy="301752"/>
            </a:xfrm>
            <a:prstGeom prst="rect">
              <a:avLst/>
            </a:prstGeom>
            <a:solidFill>
              <a:srgbClr val="EAE9E4"/>
            </a:solidFill>
            <a:ln w="12700">
              <a:solidFill>
                <a:srgbClr val="EAE9E4"/>
              </a:solidFill>
              <a:prstDash val="solid"/>
            </a:ln>
          </p:spPr>
        </p:sp>
        <p:sp>
          <p:nvSpPr>
            <p:cNvPr id="93" name="Text 91"/>
            <p:cNvSpPr/>
            <p:nvPr/>
          </p:nvSpPr>
          <p:spPr>
            <a:xfrm>
              <a:off x="228600" y="3621024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West Bengal</a:t>
              </a:r>
              <a:endParaRPr lang="en-US" sz="900" dirty="0"/>
            </a:p>
          </p:txBody>
        </p:sp>
        <p:sp>
          <p:nvSpPr>
            <p:cNvPr id="94" name="Text 92"/>
            <p:cNvSpPr/>
            <p:nvPr/>
          </p:nvSpPr>
          <p:spPr>
            <a:xfrm>
              <a:off x="1600200" y="3621024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Kolkata</a:t>
              </a:r>
              <a:endParaRPr lang="en-US" sz="900"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2971800" y="3621024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{{D08_USERS}}</a:t>
              </a:r>
              <a:endParaRPr lang="en-US" sz="900" dirty="0"/>
            </a:p>
          </p:txBody>
        </p:sp>
        <p:sp>
          <p:nvSpPr>
            <p:cNvPr id="96" name="Text 94"/>
            <p:cNvSpPr/>
            <p:nvPr/>
          </p:nvSpPr>
          <p:spPr>
            <a:xfrm>
              <a:off x="3749040" y="3621024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{{D08_SESS}}</a:t>
              </a:r>
              <a:endParaRPr lang="en-US" sz="900" dirty="0"/>
            </a:p>
          </p:txBody>
        </p:sp>
        <p:sp>
          <p:nvSpPr>
            <p:cNvPr id="97" name="Text 95"/>
            <p:cNvSpPr/>
            <p:nvPr/>
          </p:nvSpPr>
          <p:spPr>
            <a:xfrm>
              <a:off x="4389120" y="3621024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{{D08_ARCOMP}}</a:t>
              </a:r>
              <a:endParaRPr lang="en-US" sz="900" dirty="0"/>
            </a:p>
          </p:txBody>
        </p:sp>
        <p:sp>
          <p:nvSpPr>
            <p:cNvPr id="98" name="Text 96"/>
            <p:cNvSpPr/>
            <p:nvPr/>
          </p:nvSpPr>
          <p:spPr>
            <a:xfrm>
              <a:off x="5029200" y="3621024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{{D08_QUIZ}}</a:t>
              </a:r>
              <a:endParaRPr lang="en-US" sz="900" dirty="0"/>
            </a:p>
          </p:txBody>
        </p:sp>
        <p:sp>
          <p:nvSpPr>
            <p:cNvPr id="99" name="Text 97"/>
            <p:cNvSpPr/>
            <p:nvPr/>
          </p:nvSpPr>
          <p:spPr>
            <a:xfrm>
              <a:off x="5669280" y="3621024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{{D08_QUIZSCORE}}</a:t>
              </a:r>
              <a:endParaRPr lang="en-US" sz="900" dirty="0"/>
            </a:p>
          </p:txBody>
        </p:sp>
        <p:sp>
          <p:nvSpPr>
            <p:cNvPr id="100" name="Text 98"/>
            <p:cNvSpPr/>
            <p:nvPr/>
          </p:nvSpPr>
          <p:spPr>
            <a:xfrm>
              <a:off x="6309360" y="3621024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{{D08_SCHOOLS}}</a:t>
              </a:r>
              <a:endParaRPr lang="en-US" sz="900" dirty="0"/>
            </a:p>
          </p:txBody>
        </p:sp>
        <p:sp>
          <p:nvSpPr>
            <p:cNvPr id="101" name="Text 99"/>
            <p:cNvSpPr/>
            <p:nvPr/>
          </p:nvSpPr>
          <p:spPr>
            <a:xfrm>
              <a:off x="6903720" y="3621024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{{D08_RISK}}</a:t>
              </a:r>
              <a:endParaRPr lang="en-US" sz="900" dirty="0"/>
            </a:p>
          </p:txBody>
        </p:sp>
        <p:sp>
          <p:nvSpPr>
            <p:cNvPr id="102" name="Shape 100"/>
            <p:cNvSpPr/>
            <p:nvPr/>
          </p:nvSpPr>
          <p:spPr>
            <a:xfrm>
              <a:off x="182880" y="3890772"/>
              <a:ext cx="731520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103" name="Text 101"/>
            <p:cNvSpPr/>
            <p:nvPr/>
          </p:nvSpPr>
          <p:spPr>
            <a:xfrm>
              <a:off x="228600" y="3922776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Kerala</a:t>
              </a:r>
              <a:endParaRPr lang="en-US" sz="900" dirty="0"/>
            </a:p>
          </p:txBody>
        </p:sp>
        <p:sp>
          <p:nvSpPr>
            <p:cNvPr id="104" name="Text 102"/>
            <p:cNvSpPr/>
            <p:nvPr/>
          </p:nvSpPr>
          <p:spPr>
            <a:xfrm>
              <a:off x="1600200" y="3922776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Thiruvananthapuram</a:t>
              </a:r>
              <a:endParaRPr lang="en-US" sz="900" dirty="0"/>
            </a:p>
          </p:txBody>
        </p:sp>
        <p:sp>
          <p:nvSpPr>
            <p:cNvPr id="105" name="Text 103"/>
            <p:cNvSpPr/>
            <p:nvPr/>
          </p:nvSpPr>
          <p:spPr>
            <a:xfrm>
              <a:off x="2971800" y="3922776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{{D09_USERS}}</a:t>
              </a:r>
              <a:endParaRPr lang="en-US" sz="900" dirty="0"/>
            </a:p>
          </p:txBody>
        </p:sp>
        <p:sp>
          <p:nvSpPr>
            <p:cNvPr id="106" name="Text 104"/>
            <p:cNvSpPr/>
            <p:nvPr/>
          </p:nvSpPr>
          <p:spPr>
            <a:xfrm>
              <a:off x="3749040" y="392277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{{D09_SESS}}</a:t>
              </a:r>
              <a:endParaRPr lang="en-US" sz="900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4389120" y="392277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{{D09_ARCOMP}}</a:t>
              </a:r>
              <a:endParaRPr lang="en-US" sz="900" dirty="0"/>
            </a:p>
          </p:txBody>
        </p:sp>
        <p:sp>
          <p:nvSpPr>
            <p:cNvPr id="108" name="Text 106"/>
            <p:cNvSpPr/>
            <p:nvPr/>
          </p:nvSpPr>
          <p:spPr>
            <a:xfrm>
              <a:off x="5029200" y="392277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{{D09_QUIZ}}</a:t>
              </a:r>
              <a:endParaRPr lang="en-US" sz="900" dirty="0"/>
            </a:p>
          </p:txBody>
        </p:sp>
        <p:sp>
          <p:nvSpPr>
            <p:cNvPr id="109" name="Text 107"/>
            <p:cNvSpPr/>
            <p:nvPr/>
          </p:nvSpPr>
          <p:spPr>
            <a:xfrm>
              <a:off x="5669280" y="392277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{{D09_QUIZSCORE}}</a:t>
              </a:r>
              <a:endParaRPr lang="en-US" sz="900" dirty="0"/>
            </a:p>
          </p:txBody>
        </p:sp>
        <p:sp>
          <p:nvSpPr>
            <p:cNvPr id="110" name="Text 108"/>
            <p:cNvSpPr/>
            <p:nvPr/>
          </p:nvSpPr>
          <p:spPr>
            <a:xfrm>
              <a:off x="6309360" y="3922776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{{D09_SCHOOLS}}</a:t>
              </a:r>
              <a:endParaRPr lang="en-US" sz="900" dirty="0"/>
            </a:p>
          </p:txBody>
        </p:sp>
        <p:sp>
          <p:nvSpPr>
            <p:cNvPr id="111" name="Text 109"/>
            <p:cNvSpPr/>
            <p:nvPr/>
          </p:nvSpPr>
          <p:spPr>
            <a:xfrm>
              <a:off x="6903720" y="3922776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{{D09_RISK}}</a:t>
              </a:r>
              <a:endParaRPr lang="en-US" sz="900" dirty="0"/>
            </a:p>
          </p:txBody>
        </p:sp>
        <p:sp>
          <p:nvSpPr>
            <p:cNvPr id="112" name="Shape 110"/>
            <p:cNvSpPr/>
            <p:nvPr/>
          </p:nvSpPr>
          <p:spPr>
            <a:xfrm>
              <a:off x="182880" y="4192524"/>
              <a:ext cx="731520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  <p:sp>
          <p:nvSpPr>
            <p:cNvPr id="113" name="Shape 111"/>
            <p:cNvSpPr/>
            <p:nvPr/>
          </p:nvSpPr>
          <p:spPr>
            <a:xfrm>
              <a:off x="182880" y="4224528"/>
              <a:ext cx="7315200" cy="301752"/>
            </a:xfrm>
            <a:prstGeom prst="rect">
              <a:avLst/>
            </a:prstGeom>
            <a:solidFill>
              <a:srgbClr val="EAE9E4"/>
            </a:solidFill>
            <a:ln w="12700">
              <a:solidFill>
                <a:srgbClr val="EAE9E4"/>
              </a:solidFill>
              <a:prstDash val="solid"/>
            </a:ln>
          </p:spPr>
        </p:sp>
        <p:sp>
          <p:nvSpPr>
            <p:cNvPr id="114" name="Text 112"/>
            <p:cNvSpPr/>
            <p:nvPr/>
          </p:nvSpPr>
          <p:spPr>
            <a:xfrm>
              <a:off x="228600" y="4224528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Punjab</a:t>
              </a:r>
              <a:endParaRPr lang="en-US" sz="900" dirty="0"/>
            </a:p>
          </p:txBody>
        </p:sp>
        <p:sp>
          <p:nvSpPr>
            <p:cNvPr id="115" name="Text 113"/>
            <p:cNvSpPr/>
            <p:nvPr/>
          </p:nvSpPr>
          <p:spPr>
            <a:xfrm>
              <a:off x="1600200" y="4224528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Ludhiana</a:t>
              </a:r>
              <a:endParaRPr lang="en-US" sz="900" dirty="0"/>
            </a:p>
          </p:txBody>
        </p:sp>
        <p:sp>
          <p:nvSpPr>
            <p:cNvPr id="116" name="Text 114"/>
            <p:cNvSpPr/>
            <p:nvPr/>
          </p:nvSpPr>
          <p:spPr>
            <a:xfrm>
              <a:off x="2971800" y="4224528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{{D10_USERS}}</a:t>
              </a:r>
              <a:endParaRPr lang="en-US" sz="900" dirty="0"/>
            </a:p>
          </p:txBody>
        </p:sp>
        <p:sp>
          <p:nvSpPr>
            <p:cNvPr id="117" name="Text 115"/>
            <p:cNvSpPr/>
            <p:nvPr/>
          </p:nvSpPr>
          <p:spPr>
            <a:xfrm>
              <a:off x="3749040" y="4224528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{{D10_SESS}}</a:t>
              </a:r>
              <a:endParaRPr lang="en-US" sz="900" dirty="0"/>
            </a:p>
          </p:txBody>
        </p:sp>
        <p:sp>
          <p:nvSpPr>
            <p:cNvPr id="118" name="Text 116"/>
            <p:cNvSpPr/>
            <p:nvPr/>
          </p:nvSpPr>
          <p:spPr>
            <a:xfrm>
              <a:off x="4389120" y="4224528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{{D10_ARCOMP}}</a:t>
              </a:r>
              <a:endParaRPr lang="en-US" sz="900" dirty="0"/>
            </a:p>
          </p:txBody>
        </p:sp>
        <p:sp>
          <p:nvSpPr>
            <p:cNvPr id="119" name="Text 117"/>
            <p:cNvSpPr/>
            <p:nvPr/>
          </p:nvSpPr>
          <p:spPr>
            <a:xfrm>
              <a:off x="5029200" y="4224528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{{D10_QUIZ}}</a:t>
              </a:r>
              <a:endParaRPr lang="en-US" sz="900" dirty="0"/>
            </a:p>
          </p:txBody>
        </p:sp>
        <p:sp>
          <p:nvSpPr>
            <p:cNvPr id="120" name="Text 118"/>
            <p:cNvSpPr/>
            <p:nvPr/>
          </p:nvSpPr>
          <p:spPr>
            <a:xfrm>
              <a:off x="5669280" y="4224528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{{D10_QUIZSCORE}}</a:t>
              </a:r>
              <a:endParaRPr lang="en-US" sz="900" dirty="0"/>
            </a:p>
          </p:txBody>
        </p:sp>
        <p:sp>
          <p:nvSpPr>
            <p:cNvPr id="121" name="Text 119"/>
            <p:cNvSpPr/>
            <p:nvPr/>
          </p:nvSpPr>
          <p:spPr>
            <a:xfrm>
              <a:off x="6309360" y="422452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{{D10_SCHOOLS}}</a:t>
              </a:r>
              <a:endParaRPr lang="en-US" sz="900" dirty="0"/>
            </a:p>
          </p:txBody>
        </p:sp>
        <p:sp>
          <p:nvSpPr>
            <p:cNvPr id="122" name="Text 120"/>
            <p:cNvSpPr/>
            <p:nvPr/>
          </p:nvSpPr>
          <p:spPr>
            <a:xfrm>
              <a:off x="6903720" y="4224528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{{D10_RISK}}</a:t>
              </a:r>
              <a:endParaRPr lang="en-US" sz="900" dirty="0"/>
            </a:p>
          </p:txBody>
        </p:sp>
        <p:sp>
          <p:nvSpPr>
            <p:cNvPr id="123" name="Shape 121"/>
            <p:cNvSpPr/>
            <p:nvPr/>
          </p:nvSpPr>
          <p:spPr>
            <a:xfrm>
              <a:off x="182880" y="4494276"/>
              <a:ext cx="7315200" cy="0"/>
            </a:xfrm>
            <a:prstGeom prst="line">
              <a:avLst/>
            </a:prstGeom>
            <a:noFill/>
            <a:ln w="6350">
              <a:solidFill>
                <a:srgbClr val="EAE9E4"/>
              </a:solidFill>
              <a:prstDash val="solid"/>
            </a:ln>
          </p:spPr>
        </p:sp>
      </p:grpSp>
      <p:sp>
        <p:nvSpPr>
          <p:cNvPr id="124" name="Shape 122"/>
          <p:cNvSpPr/>
          <p:nvPr/>
        </p:nvSpPr>
        <p:spPr>
          <a:xfrm>
            <a:off x="182880" y="4572000"/>
            <a:ext cx="8778240" cy="164592"/>
          </a:xfrm>
          <a:prstGeom prst="roundRect">
            <a:avLst>
              <a:gd name="adj" fmla="val 2222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74320" y="45720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 Risk = all targets met  ·  Medium Risk = 1-2 targets missed  ·  High Risk = critical targets missed  ·  Aspirational District = specially monitored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163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864" cy="182880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Advertising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impressions, reach, CTR and compliance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E25B83-F7CA-90EB-ED58-66B24D8A9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68" y="4739467"/>
            <a:ext cx="2044972" cy="236566"/>
          </a:xfrm>
          <a:prstGeom prst="rect">
            <a:avLst/>
          </a:prstGeom>
          <a:effectLst>
            <a:outerShdw blurRad="127000" dist="38100" dir="8100000" algn="tr" rotWithShape="0">
              <a:schemeClr val="tx2">
                <a:lumMod val="65000"/>
                <a:alpha val="40000"/>
              </a:scheme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ADVERTISING PERFORMANCE 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{{REPORT_MONTH}}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MITRA AR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Monthly Report  ·  {{REPORT_MONTH}}  ·  Government of India — Ministry of Education  ·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110996" y="918972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0996" y="9646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IMPRESSIONS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110996" y="11201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{{AD_IMPRESSIONS}}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84932" y="918972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84932" y="9646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REACH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2884932" y="11201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{{AD_REACH}}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58868" y="918972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58868" y="9646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CLICKS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4658868" y="11201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{{AD_CLICKS}}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32804" y="918972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32804" y="9646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CTR %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6432804" y="11201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{{AD_CTR}}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2880" y="180136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CAMPAIGN TYPE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2103120"/>
            <a:ext cx="6035040" cy="274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0020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02548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81088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27728" y="2103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002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{{CAD_VID_IMP}}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02548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{{CAD_VID_REACH}}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81088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{{CAD_VID_CLICK}}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27728" y="2377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{{CAD_VID_CTR}}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2647188"/>
            <a:ext cx="60350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" y="2651760"/>
            <a:ext cx="6035040" cy="274320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60020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{{CAD_BAN_IMP}}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02548" y="2651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{{CAD_BAN_REACH}}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81088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{{CAD_BAN_CLICK}}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27728" y="2651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{{CAD_BAN_CTR}}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2880" y="2921508"/>
            <a:ext cx="60350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Interstitial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60020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{{CAD_INT_IMP}}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002548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{{CAD_INT_REACH}}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81088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{{CAD_INT_CLICK}}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27728" y="2926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{{CAD_INT_CTR}}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2880" y="3195828"/>
            <a:ext cx="60350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2880" y="3200400"/>
            <a:ext cx="6035040" cy="274320"/>
          </a:xfrm>
          <a:prstGeom prst="rect">
            <a:avLst/>
          </a:prstGeom>
          <a:solidFill>
            <a:srgbClr val="EAE9E4"/>
          </a:solidFill>
          <a:ln w="12700">
            <a:solidFill>
              <a:srgbClr val="EAE9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0020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{{CAD_NAT_IMP}}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002548" y="3200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{{CAD_NAT_REACH}}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81088" y="3200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{{CAD_NAT_CLICK}}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27728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{{CAD_NAT_CTR}}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2880" y="3470148"/>
            <a:ext cx="60350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Content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60020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{{CAD_SPO_IMP}}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002548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{{CAD_SPO_REACH}}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281088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{{CAD_SPO_CLICK}}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27728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{{CAD_SPO_CTR}}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82880" y="3744468"/>
            <a:ext cx="6035040" cy="0"/>
          </a:xfrm>
          <a:prstGeom prst="line">
            <a:avLst/>
          </a:prstGeom>
          <a:noFill/>
          <a:ln w="6350">
            <a:solidFill>
              <a:srgbClr val="EAE9E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2880" y="3931920"/>
            <a:ext cx="6035040" cy="594360"/>
          </a:xfrm>
          <a:prstGeom prst="roundRect">
            <a:avLst>
              <a:gd name="adj" fmla="val 10769"/>
            </a:avLst>
          </a:prstGeom>
          <a:solidFill>
            <a:srgbClr val="0E3D2A"/>
          </a:solidFill>
          <a:ln w="6350">
            <a:solidFill>
              <a:srgbClr val="2A7D5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397764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EC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STATUS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20040" y="4178808"/>
            <a:ext cx="5760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campaigns marked Compliant per DPDPA 2023 data protection guidelines. No non-compliant campaigns recorded this period.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400800" y="1801368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0B2545"/>
          </a:solidFill>
          <a:ln w="6350">
            <a:solidFill>
              <a:srgbClr val="E8C9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49224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TARGET GENDER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492240" y="22128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492240" y="243230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Impr: {{ADG_ALL_IMP}}  ·  CTR: {{ADG_ALL_CTR}}%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492240" y="2807208"/>
            <a:ext cx="233172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92240" y="2852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492240" y="307238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Impr: {{ADG_MALE_IMP}}  ·  CTR: {{ADG_MALE_CTR}}%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492240" y="3447288"/>
            <a:ext cx="2331720" cy="0"/>
          </a:xfrm>
          <a:prstGeom prst="line">
            <a:avLst/>
          </a:prstGeom>
          <a:noFill/>
          <a:ln w="6350">
            <a:solidFill>
              <a:srgbClr val="163D6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92240" y="34930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492240" y="37124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Impr: {{ADG_FEM_IMP}}  ·  CTR: {{ADG_FEM_CTR}}%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C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C586687-D36B-2892-F5C6-1A15864BB2DF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001A01D4-B9B0-B1E4-D7D6-3BECAB4EE60B}"/>
                </a:ext>
              </a:extLst>
            </p:cNvPr>
            <p:cNvSpPr/>
            <p:nvPr/>
          </p:nvSpPr>
          <p:spPr>
            <a:xfrm>
              <a:off x="7602583" y="0"/>
              <a:ext cx="1541417" cy="5143500"/>
            </a:xfrm>
            <a:prstGeom prst="rect">
              <a:avLst/>
            </a:prstGeom>
            <a:solidFill>
              <a:srgbClr val="1E5499"/>
            </a:solidFill>
            <a:ln w="12700">
              <a:solidFill>
                <a:srgbClr val="1E549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457200" y="2468880"/>
              <a:ext cx="3200400" cy="50292"/>
            </a:xfrm>
            <a:prstGeom prst="rect">
              <a:avLst/>
            </a:prstGeom>
            <a:solidFill>
              <a:srgbClr val="E8C97A"/>
            </a:solidFill>
            <a:ln w="12700">
              <a:solidFill>
                <a:srgbClr val="E8C97A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57200" y="1920240"/>
              <a:ext cx="6400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C5D5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Monthly Analytics Report — {{REPORT_MONTH}}</a:t>
              </a:r>
              <a:endParaRPr lang="en-US" sz="13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57200" y="2606040"/>
              <a:ext cx="6400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This report is auto-generated by the MITRA analytics engine.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57200" y="2944368"/>
              <a:ext cx="658368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5D5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sheets are populated from DuckDB / Firestore telemetry exports.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5D5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DASH sheets recalculate automatically upon data population.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0" y="4572000"/>
              <a:ext cx="9144000" cy="571500"/>
            </a:xfrm>
            <a:prstGeom prst="rect">
              <a:avLst/>
            </a:prstGeom>
            <a:solidFill>
              <a:srgbClr val="B89A3E"/>
            </a:solidFill>
            <a:ln w="12700">
              <a:solidFill>
                <a:srgbClr val="B89A3E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65760" y="4572000"/>
              <a:ext cx="8412480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0B25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Government of India  ·  Ministry of Education  ·  MITRA AR Platform  ·  CONFIDENTIAL  ·  NOT FOR PUBLIC DISTRIBUTION</a:t>
              </a:r>
              <a:endParaRPr lang="en-US" sz="850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C23FC24-0D1F-96BE-D349-E73348A30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3268" y="4739467"/>
              <a:ext cx="2044972" cy="236566"/>
            </a:xfrm>
            <a:prstGeom prst="rect">
              <a:avLst/>
            </a:prstGeom>
            <a:effectLst>
              <a:outerShdw blurRad="127000" dist="38100" dir="8100000" algn="tr" rotWithShape="0">
                <a:schemeClr val="tx2">
                  <a:lumMod val="65000"/>
                  <a:alpha val="40000"/>
                </a:schemeClr>
              </a:outerShdw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D8CB9A2-02F6-B781-F3DC-EF78A77D6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rcRect l="903" r="2418" b="392"/>
            <a:stretch>
              <a:fillRect/>
            </a:stretch>
          </p:blipFill>
          <p:spPr>
            <a:xfrm>
              <a:off x="457200" y="692196"/>
              <a:ext cx="4969335" cy="1123496"/>
            </a:xfrm>
            <a:custGeom>
              <a:avLst/>
              <a:gdLst/>
              <a:ahLst/>
              <a:cxnLst/>
              <a:rect l="l" t="t" r="r" b="b"/>
              <a:pathLst>
                <a:path w="10608449" h="2424812">
                  <a:moveTo>
                    <a:pt x="6703047" y="389034"/>
                  </a:moveTo>
                  <a:cubicBezTo>
                    <a:pt x="6676713" y="389034"/>
                    <a:pt x="6653925" y="399669"/>
                    <a:pt x="6634681" y="420938"/>
                  </a:cubicBezTo>
                  <a:cubicBezTo>
                    <a:pt x="6615438" y="442207"/>
                    <a:pt x="6605816" y="466009"/>
                    <a:pt x="6605816" y="492342"/>
                  </a:cubicBezTo>
                  <a:lnTo>
                    <a:pt x="6605816" y="908613"/>
                  </a:lnTo>
                  <a:cubicBezTo>
                    <a:pt x="6605816" y="936972"/>
                    <a:pt x="6615438" y="961280"/>
                    <a:pt x="6634681" y="981537"/>
                  </a:cubicBezTo>
                  <a:cubicBezTo>
                    <a:pt x="6653925" y="1001793"/>
                    <a:pt x="6676713" y="1011921"/>
                    <a:pt x="6703047" y="1011921"/>
                  </a:cubicBezTo>
                  <a:lnTo>
                    <a:pt x="7414050" y="1011921"/>
                  </a:lnTo>
                  <a:cubicBezTo>
                    <a:pt x="7440384" y="1011921"/>
                    <a:pt x="7464185" y="1001793"/>
                    <a:pt x="7485454" y="981537"/>
                  </a:cubicBezTo>
                  <a:cubicBezTo>
                    <a:pt x="7506724" y="961280"/>
                    <a:pt x="7517358" y="936972"/>
                    <a:pt x="7517358" y="908613"/>
                  </a:cubicBezTo>
                  <a:lnTo>
                    <a:pt x="7517358" y="492342"/>
                  </a:lnTo>
                  <a:cubicBezTo>
                    <a:pt x="7517358" y="466009"/>
                    <a:pt x="7506724" y="442207"/>
                    <a:pt x="7485454" y="420938"/>
                  </a:cubicBezTo>
                  <a:cubicBezTo>
                    <a:pt x="7464185" y="399669"/>
                    <a:pt x="7440384" y="389034"/>
                    <a:pt x="7414050" y="389034"/>
                  </a:cubicBezTo>
                  <a:close/>
                  <a:moveTo>
                    <a:pt x="9555666" y="385046"/>
                  </a:moveTo>
                  <a:lnTo>
                    <a:pt x="9101366" y="1191476"/>
                  </a:lnTo>
                  <a:lnTo>
                    <a:pt x="9101366" y="1643924"/>
                  </a:lnTo>
                  <a:lnTo>
                    <a:pt x="10012908" y="1643924"/>
                  </a:lnTo>
                  <a:lnTo>
                    <a:pt x="10012908" y="1192900"/>
                  </a:lnTo>
                  <a:close/>
                  <a:moveTo>
                    <a:pt x="9394886" y="0"/>
                  </a:moveTo>
                  <a:lnTo>
                    <a:pt x="9718575" y="0"/>
                  </a:lnTo>
                  <a:lnTo>
                    <a:pt x="9761474" y="6946"/>
                  </a:lnTo>
                  <a:cubicBezTo>
                    <a:pt x="9789327" y="15555"/>
                    <a:pt x="9818446" y="28468"/>
                    <a:pt x="9848831" y="45686"/>
                  </a:cubicBezTo>
                  <a:cubicBezTo>
                    <a:pt x="9909600" y="80122"/>
                    <a:pt x="9954165" y="121648"/>
                    <a:pt x="9982524" y="170264"/>
                  </a:cubicBezTo>
                  <a:lnTo>
                    <a:pt x="10608449" y="1242845"/>
                  </a:lnTo>
                  <a:lnTo>
                    <a:pt x="10608449" y="2254658"/>
                  </a:lnTo>
                  <a:cubicBezTo>
                    <a:pt x="10608449" y="2303273"/>
                    <a:pt x="10591319" y="2343786"/>
                    <a:pt x="10557056" y="2376196"/>
                  </a:cubicBezTo>
                  <a:cubicBezTo>
                    <a:pt x="10522794" y="2408607"/>
                    <a:pt x="10481483" y="2424812"/>
                    <a:pt x="10433119" y="2424812"/>
                  </a:cubicBezTo>
                  <a:lnTo>
                    <a:pt x="10182208" y="2424812"/>
                  </a:lnTo>
                  <a:cubicBezTo>
                    <a:pt x="10135840" y="2424812"/>
                    <a:pt x="10096031" y="2408607"/>
                    <a:pt x="10062781" y="2376196"/>
                  </a:cubicBezTo>
                  <a:cubicBezTo>
                    <a:pt x="10029532" y="2343786"/>
                    <a:pt x="10012908" y="2303273"/>
                    <a:pt x="10012908" y="2254658"/>
                  </a:cubicBezTo>
                  <a:lnTo>
                    <a:pt x="10012908" y="2029810"/>
                  </a:lnTo>
                  <a:lnTo>
                    <a:pt x="9101366" y="2029810"/>
                  </a:lnTo>
                  <a:lnTo>
                    <a:pt x="9101366" y="2254658"/>
                  </a:lnTo>
                  <a:cubicBezTo>
                    <a:pt x="9101366" y="2303273"/>
                    <a:pt x="9084741" y="2343786"/>
                    <a:pt x="9051492" y="2376196"/>
                  </a:cubicBezTo>
                  <a:cubicBezTo>
                    <a:pt x="9018243" y="2408607"/>
                    <a:pt x="8978434" y="2424812"/>
                    <a:pt x="8932066" y="2424812"/>
                  </a:cubicBezTo>
                  <a:lnTo>
                    <a:pt x="8681154" y="2424812"/>
                  </a:lnTo>
                  <a:cubicBezTo>
                    <a:pt x="8632791" y="2424812"/>
                    <a:pt x="8591479" y="2408607"/>
                    <a:pt x="8557218" y="2376196"/>
                  </a:cubicBezTo>
                  <a:cubicBezTo>
                    <a:pt x="8522955" y="2343786"/>
                    <a:pt x="8505825" y="2303273"/>
                    <a:pt x="8505825" y="2254658"/>
                  </a:cubicBezTo>
                  <a:lnTo>
                    <a:pt x="8505825" y="1242845"/>
                  </a:lnTo>
                  <a:lnTo>
                    <a:pt x="9128759" y="170311"/>
                  </a:lnTo>
                  <a:cubicBezTo>
                    <a:pt x="9159145" y="121696"/>
                    <a:pt x="9204215" y="80162"/>
                    <a:pt x="9263972" y="45710"/>
                  </a:cubicBezTo>
                  <a:cubicBezTo>
                    <a:pt x="9293850" y="28484"/>
                    <a:pt x="9322843" y="15565"/>
                    <a:pt x="9350949" y="6952"/>
                  </a:cubicBezTo>
                  <a:close/>
                  <a:moveTo>
                    <a:pt x="6156998" y="0"/>
                  </a:moveTo>
                  <a:lnTo>
                    <a:pt x="7966176" y="0"/>
                  </a:lnTo>
                  <a:lnTo>
                    <a:pt x="8004274" y="7705"/>
                  </a:lnTo>
                  <a:cubicBezTo>
                    <a:pt x="8025036" y="16821"/>
                    <a:pt x="8044027" y="30494"/>
                    <a:pt x="8061245" y="48725"/>
                  </a:cubicBezTo>
                  <a:cubicBezTo>
                    <a:pt x="8095681" y="85186"/>
                    <a:pt x="8112899" y="128738"/>
                    <a:pt x="8112899" y="179379"/>
                  </a:cubicBezTo>
                  <a:lnTo>
                    <a:pt x="8112899" y="1227653"/>
                  </a:lnTo>
                  <a:cubicBezTo>
                    <a:pt x="8112899" y="1278294"/>
                    <a:pt x="8095816" y="1320833"/>
                    <a:pt x="8061648" y="1355269"/>
                  </a:cubicBezTo>
                  <a:cubicBezTo>
                    <a:pt x="8027481" y="1389705"/>
                    <a:pt x="7986295" y="1406923"/>
                    <a:pt x="7938092" y="1406923"/>
                  </a:cubicBezTo>
                  <a:lnTo>
                    <a:pt x="7681863" y="1406923"/>
                  </a:lnTo>
                  <a:lnTo>
                    <a:pt x="8296015" y="2254088"/>
                  </a:lnTo>
                  <a:cubicBezTo>
                    <a:pt x="8325861" y="2292702"/>
                    <a:pt x="8340785" y="2327249"/>
                    <a:pt x="8340785" y="2357728"/>
                  </a:cubicBezTo>
                  <a:cubicBezTo>
                    <a:pt x="8340785" y="2402451"/>
                    <a:pt x="8310400" y="2424812"/>
                    <a:pt x="8249630" y="2424812"/>
                  </a:cubicBezTo>
                  <a:lnTo>
                    <a:pt x="7875898" y="2424812"/>
                  </a:lnTo>
                  <a:cubicBezTo>
                    <a:pt x="7827282" y="2424812"/>
                    <a:pt x="7773603" y="2408607"/>
                    <a:pt x="7714859" y="2376196"/>
                  </a:cubicBezTo>
                  <a:cubicBezTo>
                    <a:pt x="7656115" y="2343786"/>
                    <a:pt x="7609525" y="2303273"/>
                    <a:pt x="7575089" y="2254658"/>
                  </a:cubicBezTo>
                  <a:lnTo>
                    <a:pt x="6949211" y="1406923"/>
                  </a:lnTo>
                  <a:lnTo>
                    <a:pt x="6605816" y="1406923"/>
                  </a:lnTo>
                  <a:lnTo>
                    <a:pt x="6605816" y="2254658"/>
                  </a:lnTo>
                  <a:cubicBezTo>
                    <a:pt x="6605816" y="2303273"/>
                    <a:pt x="6589191" y="2343786"/>
                    <a:pt x="6555942" y="2376196"/>
                  </a:cubicBezTo>
                  <a:cubicBezTo>
                    <a:pt x="6522693" y="2408607"/>
                    <a:pt x="6482885" y="2424812"/>
                    <a:pt x="6436516" y="2424812"/>
                  </a:cubicBezTo>
                  <a:lnTo>
                    <a:pt x="6185604" y="2424812"/>
                  </a:lnTo>
                  <a:cubicBezTo>
                    <a:pt x="6137242" y="2424812"/>
                    <a:pt x="6095930" y="2408607"/>
                    <a:pt x="6061668" y="2376196"/>
                  </a:cubicBezTo>
                  <a:cubicBezTo>
                    <a:pt x="6027406" y="2343786"/>
                    <a:pt x="6010274" y="2303273"/>
                    <a:pt x="6010274" y="2254658"/>
                  </a:cubicBezTo>
                  <a:lnTo>
                    <a:pt x="6010274" y="179379"/>
                  </a:lnTo>
                  <a:cubicBezTo>
                    <a:pt x="6010274" y="128738"/>
                    <a:pt x="6027493" y="85186"/>
                    <a:pt x="6061929" y="48725"/>
                  </a:cubicBezTo>
                  <a:cubicBezTo>
                    <a:pt x="6079147" y="30494"/>
                    <a:pt x="6098137" y="16821"/>
                    <a:pt x="6118900" y="7705"/>
                  </a:cubicBezTo>
                  <a:close/>
                  <a:moveTo>
                    <a:pt x="3737494" y="0"/>
                  </a:moveTo>
                  <a:lnTo>
                    <a:pt x="5702943" y="0"/>
                  </a:lnTo>
                  <a:lnTo>
                    <a:pt x="5742165" y="7634"/>
                  </a:lnTo>
                  <a:cubicBezTo>
                    <a:pt x="5763434" y="16702"/>
                    <a:pt x="5782678" y="30304"/>
                    <a:pt x="5799896" y="48440"/>
                  </a:cubicBezTo>
                  <a:cubicBezTo>
                    <a:pt x="5834332" y="84712"/>
                    <a:pt x="5851550" y="128026"/>
                    <a:pt x="5851550" y="178382"/>
                  </a:cubicBezTo>
                  <a:lnTo>
                    <a:pt x="5851550" y="556150"/>
                  </a:lnTo>
                  <a:lnTo>
                    <a:pt x="5256009" y="556150"/>
                  </a:lnTo>
                  <a:lnTo>
                    <a:pt x="5256009" y="490491"/>
                  </a:lnTo>
                  <a:cubicBezTo>
                    <a:pt x="5256009" y="464632"/>
                    <a:pt x="5245754" y="441258"/>
                    <a:pt x="5225244" y="420368"/>
                  </a:cubicBezTo>
                  <a:cubicBezTo>
                    <a:pt x="5204735" y="399479"/>
                    <a:pt x="5182168" y="389034"/>
                    <a:pt x="5157543" y="389034"/>
                  </a:cubicBezTo>
                  <a:lnTo>
                    <a:pt x="5015969" y="389034"/>
                  </a:lnTo>
                  <a:lnTo>
                    <a:pt x="5015969" y="2254658"/>
                  </a:lnTo>
                  <a:cubicBezTo>
                    <a:pt x="5015969" y="2303273"/>
                    <a:pt x="4999765" y="2343786"/>
                    <a:pt x="4967354" y="2376196"/>
                  </a:cubicBezTo>
                  <a:cubicBezTo>
                    <a:pt x="4934944" y="2408607"/>
                    <a:pt x="4894431" y="2424812"/>
                    <a:pt x="4845815" y="2424812"/>
                  </a:cubicBezTo>
                  <a:lnTo>
                    <a:pt x="4596661" y="2424812"/>
                  </a:lnTo>
                  <a:cubicBezTo>
                    <a:pt x="4546019" y="2424812"/>
                    <a:pt x="4504999" y="2408607"/>
                    <a:pt x="4473603" y="2376196"/>
                  </a:cubicBezTo>
                  <a:cubicBezTo>
                    <a:pt x="4442204" y="2343786"/>
                    <a:pt x="4426505" y="2303273"/>
                    <a:pt x="4426505" y="2254658"/>
                  </a:cubicBezTo>
                  <a:lnTo>
                    <a:pt x="4426505" y="389034"/>
                  </a:lnTo>
                  <a:lnTo>
                    <a:pt x="4288493" y="389034"/>
                  </a:lnTo>
                  <a:cubicBezTo>
                    <a:pt x="4262476" y="389034"/>
                    <a:pt x="4238967" y="399479"/>
                    <a:pt x="4217967" y="420368"/>
                  </a:cubicBezTo>
                  <a:cubicBezTo>
                    <a:pt x="4196966" y="441258"/>
                    <a:pt x="4186467" y="464632"/>
                    <a:pt x="4186467" y="490491"/>
                  </a:cubicBezTo>
                  <a:lnTo>
                    <a:pt x="4186467" y="556150"/>
                  </a:lnTo>
                  <a:lnTo>
                    <a:pt x="3590925" y="556150"/>
                  </a:lnTo>
                  <a:lnTo>
                    <a:pt x="3590925" y="178382"/>
                  </a:lnTo>
                  <a:cubicBezTo>
                    <a:pt x="3590925" y="128026"/>
                    <a:pt x="3608143" y="84712"/>
                    <a:pt x="3642579" y="48440"/>
                  </a:cubicBezTo>
                  <a:cubicBezTo>
                    <a:pt x="3659797" y="30304"/>
                    <a:pt x="3678788" y="16702"/>
                    <a:pt x="3699551" y="7634"/>
                  </a:cubicBezTo>
                  <a:close/>
                  <a:moveTo>
                    <a:pt x="2973172" y="0"/>
                  </a:moveTo>
                  <a:lnTo>
                    <a:pt x="3284158" y="0"/>
                  </a:lnTo>
                  <a:lnTo>
                    <a:pt x="3317900" y="6946"/>
                  </a:lnTo>
                  <a:cubicBezTo>
                    <a:pt x="3337551" y="15555"/>
                    <a:pt x="3355942" y="28468"/>
                    <a:pt x="3373073" y="45686"/>
                  </a:cubicBezTo>
                  <a:cubicBezTo>
                    <a:pt x="3407335" y="80122"/>
                    <a:pt x="3424466" y="121648"/>
                    <a:pt x="3424466" y="170264"/>
                  </a:cubicBezTo>
                  <a:lnTo>
                    <a:pt x="3424466" y="2254658"/>
                  </a:lnTo>
                  <a:cubicBezTo>
                    <a:pt x="3424466" y="2303273"/>
                    <a:pt x="3407841" y="2343786"/>
                    <a:pt x="3374592" y="2376196"/>
                  </a:cubicBezTo>
                  <a:cubicBezTo>
                    <a:pt x="3341343" y="2408607"/>
                    <a:pt x="3301534" y="2424812"/>
                    <a:pt x="3255166" y="2424812"/>
                  </a:cubicBezTo>
                  <a:lnTo>
                    <a:pt x="3004255" y="2424812"/>
                  </a:lnTo>
                  <a:cubicBezTo>
                    <a:pt x="2955892" y="2424812"/>
                    <a:pt x="2914580" y="2408607"/>
                    <a:pt x="2880318" y="2376196"/>
                  </a:cubicBezTo>
                  <a:cubicBezTo>
                    <a:pt x="2846056" y="2343786"/>
                    <a:pt x="2828925" y="2303273"/>
                    <a:pt x="2828925" y="2254658"/>
                  </a:cubicBezTo>
                  <a:lnTo>
                    <a:pt x="2828925" y="170264"/>
                  </a:lnTo>
                  <a:cubicBezTo>
                    <a:pt x="2828925" y="121648"/>
                    <a:pt x="2846056" y="80122"/>
                    <a:pt x="2880318" y="45686"/>
                  </a:cubicBezTo>
                  <a:cubicBezTo>
                    <a:pt x="2897449" y="28468"/>
                    <a:pt x="2916343" y="15555"/>
                    <a:pt x="2936999" y="6946"/>
                  </a:cubicBezTo>
                  <a:close/>
                  <a:moveTo>
                    <a:pt x="145228" y="0"/>
                  </a:moveTo>
                  <a:lnTo>
                    <a:pt x="460206" y="0"/>
                  </a:lnTo>
                  <a:lnTo>
                    <a:pt x="504458" y="8500"/>
                  </a:lnTo>
                  <a:cubicBezTo>
                    <a:pt x="525252" y="18146"/>
                    <a:pt x="541734" y="32614"/>
                    <a:pt x="553904" y="51905"/>
                  </a:cubicBezTo>
                  <a:lnTo>
                    <a:pt x="1336074" y="1389357"/>
                  </a:lnTo>
                  <a:lnTo>
                    <a:pt x="2119289" y="54374"/>
                  </a:lnTo>
                  <a:cubicBezTo>
                    <a:pt x="2131348" y="34260"/>
                    <a:pt x="2148178" y="19175"/>
                    <a:pt x="2169780" y="9118"/>
                  </a:cubicBezTo>
                  <a:lnTo>
                    <a:pt x="2198775" y="0"/>
                  </a:lnTo>
                  <a:lnTo>
                    <a:pt x="2527911" y="0"/>
                  </a:lnTo>
                  <a:lnTo>
                    <a:pt x="2561553" y="6946"/>
                  </a:lnTo>
                  <a:cubicBezTo>
                    <a:pt x="2581145" y="15555"/>
                    <a:pt x="2599479" y="28468"/>
                    <a:pt x="2616554" y="45686"/>
                  </a:cubicBezTo>
                  <a:cubicBezTo>
                    <a:pt x="2650705" y="80122"/>
                    <a:pt x="2667781" y="121648"/>
                    <a:pt x="2667781" y="170264"/>
                  </a:cubicBezTo>
                  <a:lnTo>
                    <a:pt x="2667781" y="2254658"/>
                  </a:lnTo>
                  <a:cubicBezTo>
                    <a:pt x="2667781" y="2303273"/>
                    <a:pt x="2651157" y="2343786"/>
                    <a:pt x="2617907" y="2376196"/>
                  </a:cubicBezTo>
                  <a:cubicBezTo>
                    <a:pt x="2584658" y="2408607"/>
                    <a:pt x="2544849" y="2424812"/>
                    <a:pt x="2498481" y="2424812"/>
                  </a:cubicBezTo>
                  <a:lnTo>
                    <a:pt x="2247569" y="2424812"/>
                  </a:lnTo>
                  <a:cubicBezTo>
                    <a:pt x="2199207" y="2424812"/>
                    <a:pt x="2157895" y="2408607"/>
                    <a:pt x="2123633" y="2376196"/>
                  </a:cubicBezTo>
                  <a:cubicBezTo>
                    <a:pt x="2089371" y="2343786"/>
                    <a:pt x="2072240" y="2303273"/>
                    <a:pt x="2072240" y="2254658"/>
                  </a:cubicBezTo>
                  <a:lnTo>
                    <a:pt x="2072240" y="1327923"/>
                  </a:lnTo>
                  <a:lnTo>
                    <a:pt x="1470669" y="2358013"/>
                  </a:lnTo>
                  <a:cubicBezTo>
                    <a:pt x="1446266" y="2402546"/>
                    <a:pt x="1400531" y="2424812"/>
                    <a:pt x="1333463" y="2424812"/>
                  </a:cubicBezTo>
                  <a:cubicBezTo>
                    <a:pt x="1266363" y="2424812"/>
                    <a:pt x="1220628" y="2402530"/>
                    <a:pt x="1196257" y="2357966"/>
                  </a:cubicBezTo>
                  <a:lnTo>
                    <a:pt x="595541" y="1327923"/>
                  </a:lnTo>
                  <a:lnTo>
                    <a:pt x="595541" y="2254658"/>
                  </a:lnTo>
                  <a:cubicBezTo>
                    <a:pt x="595541" y="2303273"/>
                    <a:pt x="578916" y="2343786"/>
                    <a:pt x="545667" y="2376196"/>
                  </a:cubicBezTo>
                  <a:cubicBezTo>
                    <a:pt x="512418" y="2408607"/>
                    <a:pt x="472609" y="2424812"/>
                    <a:pt x="426241" y="2424812"/>
                  </a:cubicBezTo>
                  <a:lnTo>
                    <a:pt x="175329" y="2424812"/>
                  </a:lnTo>
                  <a:cubicBezTo>
                    <a:pt x="126967" y="2424812"/>
                    <a:pt x="85655" y="2408607"/>
                    <a:pt x="51393" y="2376196"/>
                  </a:cubicBezTo>
                  <a:cubicBezTo>
                    <a:pt x="17131" y="2343786"/>
                    <a:pt x="0" y="2303273"/>
                    <a:pt x="0" y="2254658"/>
                  </a:cubicBezTo>
                  <a:lnTo>
                    <a:pt x="0" y="170264"/>
                  </a:lnTo>
                  <a:cubicBezTo>
                    <a:pt x="0" y="121648"/>
                    <a:pt x="17249" y="80122"/>
                    <a:pt x="51749" y="45686"/>
                  </a:cubicBezTo>
                  <a:cubicBezTo>
                    <a:pt x="68999" y="28468"/>
                    <a:pt x="88021" y="15555"/>
                    <a:pt x="108815" y="6946"/>
                  </a:cubicBezTo>
                  <a:close/>
                </a:path>
              </a:pathLst>
            </a:cu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595C388-FA48-1A4A-C514-70D253ACF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3460" y="2571750"/>
              <a:ext cx="1989123" cy="19891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4019</Words>
  <Application>Microsoft Office PowerPoint</Application>
  <PresentationFormat>On-screen Show (16:9)</PresentationFormat>
  <Paragraphs>831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Schluber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MITRA Monthly Analytics Report</dc:title>
  <dc:subject>PptxGenJS Presentation</dc:subject>
  <dc:creator>MITRA Analytics</dc:creator>
  <cp:lastModifiedBy>Abhinneet Chauhan</cp:lastModifiedBy>
  <cp:revision>9</cp:revision>
  <dcterms:created xsi:type="dcterms:W3CDTF">2026-07-06T22:06:08Z</dcterms:created>
  <dcterms:modified xsi:type="dcterms:W3CDTF">2026-10-06T11:51:02Z</dcterms:modified>
</cp:coreProperties>
</file>